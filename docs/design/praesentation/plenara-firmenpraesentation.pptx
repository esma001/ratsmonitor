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lenara" id="{63b432c0-2a86-7265-5ebe-9db6062a4aa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lenara.X" id="{3ac93ea1-49a0-4203-8ba4-dedc6b2b3b81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8181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8181B"/>
                </a:solidFill>
                <a:latin typeface="+mj-lt"/>
              </a:rPr>
              <a:t>Richtig erkannt je 20 Stichproben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richtig</c:v>
                </c:pt>
              </c:strCache>
            </c:strRef>
          </c:tx>
          <c:spPr>
            <a:solidFill>
              <a:srgbClr val="2684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Vergaben</c:v>
                  </c:pt>
                  <c:pt idx="1">
                    <c:v>Windenergie</c:v>
                  </c:pt>
                  <c:pt idx="2">
                    <c:v>Gewerbe</c:v>
                  </c:pt>
                  <c:pt idx="3">
                    <c:v>Solar</c:v>
                  </c:pt>
                  <c:pt idx="4">
                    <c:v>Wärme</c:v>
                  </c:pt>
                  <c:pt idx="5">
                    <c:v>Wohnbau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20</c:v>
                </c:pt>
                <c:pt idx="2">
                  <c:v>19</c:v>
                </c:pt>
                <c:pt idx="3">
                  <c:v>19</c:v>
                </c:pt>
                <c:pt idx="4">
                  <c:v>18</c:v>
                </c:pt>
                <c:pt idx="5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6350" cap="flat">
              <a:solidFill>
                <a:srgbClr val="E4E4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8181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8181B"/>
                </a:solidFill>
                <a:latin typeface="+mj-lt"/>
              </a:rPr>
              <a:t>Beratungen zu „Klimaschutz“ je Ort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Beratungen</c:v>
                </c:pt>
              </c:strCache>
            </c:strRef>
          </c:tx>
          <c:spPr>
            <a:solidFill>
              <a:srgbClr val="2684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Erfurt</c:v>
                  </c:pt>
                  <c:pt idx="1">
                    <c:v>Münster</c:v>
                  </c:pt>
                  <c:pt idx="2">
                    <c:v>Stuttgart</c:v>
                  </c:pt>
                  <c:pt idx="3">
                    <c:v>Leipzig</c:v>
                  </c:pt>
                  <c:pt idx="4">
                    <c:v>Mainz</c:v>
                  </c:pt>
                  <c:pt idx="5">
                    <c:v>Köln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</c:v>
                </c:pt>
                <c:pt idx="1">
                  <c:v>49</c:v>
                </c:pt>
                <c:pt idx="2">
                  <c:v>29</c:v>
                </c:pt>
                <c:pt idx="3">
                  <c:v>25</c:v>
                </c:pt>
                <c:pt idx="4">
                  <c:v>18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4E4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Plenara ist ein Portal, das die öffentlichen Ratsinformationssysteme der Kommunen zusammenführt. Der Slogan ist fest: „Besser verstehen, was vor Ort beraten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Ausgangslage: Beschlüsse stehen zuerst in den Ratsinformationssystemen, lange vor Presse und Ausschreibung. Jede Kommune betreibt ihr eigenes System. Die Zahlen stammen von der Startseite plenara.de, Stand 15.10.26.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drei Bausteine: Suche mit Karte, Benachrichtigungen, plenara.X. Die Suche ist kostenlos nutzbar, plenara.X gehört zum Tarif Enterprise.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entsteht der Datenbestand: Abruf alle 10 Minuten, Unterlagen als PDF mit Textebene und OCR, feste Regeln je Bericht, daraus Suche, Alarme und plenara.X. Kurzfassungen in der Suche tragen ein KI-Label; plenara.X selbst arbeitet ohne Modell.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und ihre Fragen. Branchen nutzen Signale und Alarme, Verbände und Kämmereien die Fakten, Politik und Presse die Tools. Die Suche ist für alle offen.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 1: die Oberfläche von Plenara anhand echter Seiten vom 15.10.26.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 „Windkraft“ ohne Ortswahl: 1.108 Treffer über alle Kommunen, Zahlen je Gebiet auf der Karte. Stand der Suche 11.10.26. Filter: Zeitraum, Thema, Status, Umkreis, exakter Begriff.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Trefferliste zeigt zu jedem Vorgang den Zeitstrahl: Ortschaftsrat, Ausschuss, Rat, jeweils mit Datum und Stand. Status erscheint als schlichter Text. Export als Excel oder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Jeder Artikel zeigt den Auszug aus der Vorlage mit Originalsätzen, Vorlagennummer und Link zur Quelle. Rechts die Angaben auf einen Blick: Sitzung, Gremium, Vorlage, Gebiet, Stand, Quellenstand.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Benachrichtigungen: Jede Suche lässt sich speichern, neue Treffer kommen per E-Mail, sofort, täglich oder wöchentlich am Wunschtag. Dazu der Sitzungskalender zum Abonnieren.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 2: plenara.X, der Analyse-Teil. Grundlage sind dieselben Ratsunterlagen wie in der Suche; plenara.X zählt Vorgänge über alle Kommunen.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Auswertung geht denselben Weg: Auswahl über die normale Suche, Zählen der Vorgänge (Formalien nie, gleiche Titel je Gebiet einmal), Anreichern mit Thema, Art und Werten. Vier Seiten: Signale, Fakten, Atlas,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Signale: zehn Kategorien von Ereignissen, je Vorgang Art (Filter) und Stand des Verfahrens. Die Qualität ist je Kategorie an 20 Stichproben gemessen (14.10.26); Kategorien ohne Messung sind nicht freigegeben.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 Klimaschutz (Stand 08.10.26): Ortsvergleich zählt Beratungen je Ort; das Beschlüsse-Tool zeigt, wie Gremien entscheiden: 281 Beschlüsse, 54,7 % einstimmig, 26 % vertagt, 6,4 % abgelehnt, die Hälfte nach 14 Tagen entschieden.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Ausbreitung zeigt, wer zuerst dran war und wie schnell andere folgten: 2.499 Kommunen haben Photovoltaik seit Oktober 2025 erstmals beraten. Fakten: Werte aus den Unterlagen je Gemeinde; auf der Karte erst ab 90 % gemessener Qualität, derzeit Bauleitplanung, Hebesätze und Fraktion.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Grenzen offen benannt: Die Regeln sind gemessen (frische Stichproben 14.10.26): Formalien 88 % erkannt, Thema 91 % richtig, wo ein Thema vergeben ist, Stand des Verfahrens 91 %. Freigabe im Produkt erst ab 90 %. Datenstand steht über jeder Trefferliste.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Stufen: Gast ohne Konto mit 10 Treffern je Suche; Basic, Pro und Enterprise mit Konto. plenara.X und der Sitzungskalender gehören zu Enterprise. In der Testphase schalten wir Stufen auf Anfrage frei; die Preise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 mit dem Slogan. Kontakt über www.plenara.de.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UNKE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TRENNER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73168"/>
            <a:ext cx="49316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NK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ENN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0"/>
            <a:ext cx="542476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1" Type="http://schemas.openxmlformats.org/officeDocument/2006/relationships/chart" Target="/ppt/charts/chart1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023360" cy="14919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606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Besser verstehen,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was vor Ort beraten wird.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Firmenpräsentation  ·  Stand 15.10.26  ·  www.plenara.de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AUSGANGSLAGE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Was vor Ort beraten wird, steht in über 8.000 Systemen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3886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Beschlüsse stehen zuerst im Ratsinformationssystem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50136"/>
            <a:ext cx="38862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Bebauungspläne, Vergaben, Gebühren und Standorte werden dort beraten, bevor Presse oder Ausschreibung davon berichten.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3194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77084"/>
            <a:ext cx="38862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Jede Kommune hat ihr eigenes System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811780"/>
            <a:ext cx="38862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Wer mehrere Orte oder ein Thema verfolgt, muss täglich viele Portale öffnen und durchsuchen.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41833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363468"/>
            <a:ext cx="38862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 führt sie zusammen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598164"/>
            <a:ext cx="38862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Ein Portal, eine Suche, ein Stand für ganz Deutschland. Jede Angabe führt zur Originalquelle.</a:t>
            </a:r>
            <a:endParaRPr lang="en-US" sz="11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25880"/>
            <a:ext cx="1600200" cy="196947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766560" y="137160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8.076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1885188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Kommunen und Gebiete mit Ratsinformationssystem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766560" y="246126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1.394.044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6766560" y="2974848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Berichte aus Räten und Ausschüssen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6766560" y="355092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160.340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6766560" y="4064508"/>
            <a:ext cx="201168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Berichte in den letzten 30 Tagen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6766560" y="4343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Stand 15.10.26, plenara.de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 AUF EINEN BLICK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 Portal statt vieler Systeme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7007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Karte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468880"/>
            <a:ext cx="2194560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Ganz Deutschland mit einem Begriff, Treffer auf der Karte, Stand jedes Vorgangs auf einen Blick.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4442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3985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Filter: Zeitraum, Thema, Status, Umkreis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87096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382524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Export als Excel, CSV oder PDF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85800" y="41300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" y="40843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Suche ohne Anmeldung nutzbar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3756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56616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1700784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5661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Benachrichtigungen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566160" y="2468880"/>
            <a:ext cx="219456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Alarme per E-Mail statt tägliches Suchen: sofort, täglich oder am Wunschtag.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3566160" y="32689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49040" y="322326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Gespeicherte Suchen mit Glocke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566160" y="369570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749040" y="364998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Wochenbericht am Wunschtag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566160" y="39547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749040" y="390906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Sitzungskalender zum Abonnieren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44652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1700784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44652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446520" y="2468880"/>
            <a:ext cx="2194560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Analysen über alle Kommunen: Signale, Fakten, Atlas und Tools, jede Zahl mit Vorgängen und Quelle.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6446520" y="34442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29400" y="33985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Regelbasiert, kein KI-Modell im Ablauf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446520" y="387096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629400" y="382524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Freigabe erst ab 90 % gemessener Qualität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446520" y="42976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629400" y="425196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Teil des Tarifs Enterprise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SO ENTSTEHT DER DATENBESTAND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Vom Ratsinformationssystem zur Antwort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347472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91640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26464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30352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Abruf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30352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Alle 10 Minuten neue Berichte aus den Ratsinformationssystemen, nachts vollständig.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883664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2075688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58568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6916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15468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258568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Unterlagen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2258568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Hauptdokument als PDF, Textebene lesen, Scans per OCR.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3611880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3803904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986784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4" y="1691640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882896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986784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Regeln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3986784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Art des Punkts, Thema, Stand und Werte nach festen Regeln je Bericht.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5340096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5532120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715000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691640"/>
            <a:ext cx="182880" cy="18288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611112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5715000" y="2103120"/>
            <a:ext cx="1170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Alarme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5715000" y="2529840"/>
            <a:ext cx="1170432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Trefferliste, Karte, Zeitstrahl; gespeicherte Suchen lösen E-Mails aus.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7068312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7260336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7443216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4656" y="1691640"/>
            <a:ext cx="182880" cy="18288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339328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7443216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443216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Vorgänge über alle Kommunen zählen: Signale, Fakten, Atlas, Tools.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40080" y="3931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4032504"/>
            <a:ext cx="201168" cy="20116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18872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Jede Angabe führt zur Originalquelle. </a:t>
            </a:r>
            <a:pPr algn="l"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plenara.X arbeitet rein regelbasiert und ohne KI-Modell; Kurzfassungen in der Suche sind als KI-Text gekennzeichnet. Der Server erzeugt alles aus den Unterlagen der Kommunen.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FÜR WEN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Vier Gruppen, vier Fragen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05840" y="13258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GRUPPE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1325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FRAGE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325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IN PLENARA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64592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80136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2808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177393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Branchen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2011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Bau, Ingenieurbüros, Energie, Projektentwicklung, Telekommunikation, Mobilität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17739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Wo entsteht gerade etwas, das für uns ein Auftrag werden kann?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Signale, Alarme, Suche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25328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24328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05840" y="250545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Verbände und Verwaltung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" y="2743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Verbände, Kämmereien, Wirtschaftsförderung, Beratung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3657600" y="250545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Was kostet es wo, wo steigt es? Steuern, Gebühren, Haushalt, Preise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675120" y="25054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Fakten, Atlas, Ortsvergleich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310896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57200" y="326440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55848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05840" y="323697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Politik und Presse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005840" y="347472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Fraktionen, Redaktionen, Forschung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3657600" y="32369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Wer beantragt was, wie entscheiden Gremien, was ist berichtenswert?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6675120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Tools, Newsradar, Fraktionsprofil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57200" y="399592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87368"/>
            <a:ext cx="182880" cy="1828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005840" y="39684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Bürgerinnen und Bürger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1005840" y="42062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Ehrenamt, Vereine, Nachbarschaft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3657600" y="396849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Was wird in meinem Ort beraten, und wann ist die Sitzung?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667512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kostenlos, Kalender, Benachrichtigungen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Plenara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Suche, Karte, Artikel und Benachrichtigungen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KARTE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Ganz Deutschland mit einem Begriff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1.108 Treffer für „Windkraft“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52016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Ohne Ortswahl über alle Kommunen, Stand der Suche 11.10.26.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25856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03704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Zahlen je Gebiet auf der Karte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38400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Flächen, Punkte und Häufungen; ein Klick auf ein Gebiet zeigt dessen Beschlüsse.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04495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90088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Gezielt eingrenzen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24784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Zeitraum, Thema, Status, Umkreis, künftige Sitzungen, exakter Begriff.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8313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76472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Ort direkt erkannt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011168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Stadt, Gemeinde, Kreis oder Region in derselben Suchleiste.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941064" y="1335024"/>
            <a:ext cx="4782312" cy="3142515"/>
          </a:xfrm>
          <a:prstGeom prst="roundRect">
            <a:avLst>
              <a:gd name="adj" fmla="val 1746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371600"/>
            <a:ext cx="4709160" cy="306936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TREFFERLISTE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Stand jedes Vorgangs auf einen Blick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5579503" cy="2176272"/>
          </a:xfrm>
          <a:prstGeom prst="roundRect">
            <a:avLst>
              <a:gd name="adj" fmla="val 2521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506351" cy="2103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94760"/>
            <a:ext cx="182880" cy="1828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Zeitstrahl</a:t>
            </a:r>
            <a:endParaRPr lang="en-US" sz="125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Vom Ortschaftsrat über den Ausschuss bis zum Rat, mit Datum und Stand jeder Station.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329184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794760"/>
            <a:ext cx="182880" cy="182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79476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Status als Text</a:t>
            </a:r>
            <a:endParaRPr lang="en-US" sz="1250" dirty="0"/>
          </a:p>
        </p:txBody>
      </p:sp>
      <p:sp>
        <p:nvSpPr>
          <p:cNvPr id="14" name="Text 8"/>
          <p:cNvSpPr txBox="1"/>
          <p:nvPr/>
        </p:nvSpPr>
        <p:spPr>
          <a:xfrm>
            <a:off x="379476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Angekündigt, in Beratung, beschlossen, vertagt, abgelehnt: ohne bunte Abzeichen.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612648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94760"/>
            <a:ext cx="182880" cy="1828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62940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Export</a:t>
            </a:r>
            <a:endParaRPr lang="en-US" sz="1250" dirty="0"/>
          </a:p>
        </p:txBody>
      </p:sp>
      <p:sp>
        <p:nvSpPr>
          <p:cNvPr id="18" name="Text 11"/>
          <p:cNvSpPr txBox="1"/>
          <p:nvPr/>
        </p:nvSpPr>
        <p:spPr>
          <a:xfrm>
            <a:off x="662940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Trefferliste als Excel oder CSV, jeder Artikel als PDF oder zum Drucken.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ARTIKEL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Jede Angabe mit Originalquelle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5193792" cy="2989072"/>
          </a:xfrm>
          <a:prstGeom prst="roundRect">
            <a:avLst>
              <a:gd name="adj" fmla="val 1835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120640" cy="2915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9436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172200" y="1417320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Auszug aus der Vorlage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1652016"/>
            <a:ext cx="25146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Originalsätze mit Vorlagennummer und Link zur Quelle im Ratsinformationssystem.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943600" y="241554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72200" y="2360676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Auf einen Blick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172200" y="2595372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Sitzung, Gremium, Vorlage, Gebiet, Stand und Quellenstand.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943600" y="31836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72200" y="3128772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Verlauf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3363468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Alle Stationen des Vorgangs mit ihren Unterlagen.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943600" y="395173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72200" y="3896868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Merken, teilen, abonnieren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172200" y="4131564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Lesezeichen, Teilen, Glocke je Artikel, Export als PDF.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BENACHRICHTIGUNGEN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Alarme per E-Mail statt tägliches Suchen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Gespeicherte Suche mit Glocke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52016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Jede Suche lässt sich speichern; neue Treffer kommen per E-Mail.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25856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03704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Sofort, täglich oder wöchentlich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38400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Wochenbericht am Wunschtag, bis zu 5 Empfänger je Benachrichtigung (Enterprise).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04495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90088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Sitzungskalender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24784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Sitzungen zu Ihren Themen abonnieren und keine Sitzung verpassen.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8313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76472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Fristen im Blick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011168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Auslegungen, Stellungnahmen und Vergaben rechtzeitig erfahren.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306824" y="1335024"/>
            <a:ext cx="4416552" cy="2570607"/>
          </a:xfrm>
          <a:prstGeom prst="roundRect">
            <a:avLst>
              <a:gd name="adj" fmla="val 2134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371600"/>
            <a:ext cx="4343400" cy="249745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20240"/>
            <a:ext cx="3108960" cy="1047979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Analysen über alle Kommunen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 Weg für alle Auswertungen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746504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7043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Auswahl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7043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über die normale Suche: Begriff, Ort, Zeitraum, Thema, Status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090672" y="16687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4612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42900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746504"/>
            <a:ext cx="201168" cy="20116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95935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Zählen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395935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Vorgänge statt Treffer: Formalien nie, gleiche Titel je Gebiet einmal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5879592" y="16687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03504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746504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74827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Anreichern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674827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Thema und Unterthema, Art des Vorgangs, Stand, Werte aus den Unterlagen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61772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44652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" y="2816352"/>
            <a:ext cx="182880" cy="1828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4652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Signale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644652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Wo gerade etwas entsteht: Wohn- und Gewerbegebiete, Wind, Solar, Wärme, Schulen, Straßen, Mobilität. Je Vorgang Ort, Stand und Quelle.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546604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2729484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0924" y="2816352"/>
            <a:ext cx="182880" cy="1828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729484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Fakten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2729484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Hebesätze, Gebühren, Jahresergebnisse und Grundstückspreise je Gemeinde auf der Karte. Nur Werte ab 90 % gemessener Qualität.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4631436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814316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5756" y="2816352"/>
            <a:ext cx="182880" cy="18288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814316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Atlas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4814316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Worüber die Räte beraten, nach den 10 Themen der Suche: Unterthemen, Verlauf, Orte und der Vergleich mit ähnlichen Gemeinden.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6716268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6899148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588" y="2816352"/>
            <a:ext cx="182880" cy="18288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899148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Tools</a:t>
            </a:r>
            <a:endParaRPr lang="en-US" sz="1250" dirty="0"/>
          </a:p>
        </p:txBody>
      </p:sp>
      <p:sp>
        <p:nvSpPr>
          <p:cNvPr id="41" name="Text 31"/>
          <p:cNvSpPr txBox="1"/>
          <p:nvPr/>
        </p:nvSpPr>
        <p:spPr>
          <a:xfrm>
            <a:off x="6899148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Ausbreitung, Themennetz, Trends, Ortsvergleich, Beschlüsse, Beratungswege, Fraktionsprofil und Newsradar, mit jedem Suchbegriff.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SIGNALE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Wo gerade etwas entsteht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453896"/>
            <a:ext cx="164592" cy="16459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77824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Ausschreibungen und Vergaben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2606040" y="13716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336" y="1453896"/>
            <a:ext cx="164592" cy="16459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26664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Neue Wohnbaugebiete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457200" y="192024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002536"/>
            <a:ext cx="164592" cy="16459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77824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Gewerbe- und Industrieflächen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2606040" y="192024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8336" y="2002536"/>
            <a:ext cx="164592" cy="16459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026664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Windenergie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2551176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77824" y="248716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Solarenergie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2606040" y="246888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8336" y="2551176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3026664" y="248716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Wärme und Energieeffizienz</a:t>
            </a:r>
            <a:endParaRPr lang="en-US" sz="1050" dirty="0"/>
          </a:p>
        </p:txBody>
      </p:sp>
      <p:sp>
        <p:nvSpPr>
          <p:cNvPr id="23" name="Shape 14"/>
          <p:cNvSpPr/>
          <p:nvPr/>
        </p:nvSpPr>
        <p:spPr>
          <a:xfrm>
            <a:off x="457200" y="30175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" y="3099816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877824" y="3035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Schulen, Kitas und Sportstätten</a:t>
            </a:r>
            <a:endParaRPr lang="en-US" sz="1050" dirty="0"/>
          </a:p>
        </p:txBody>
      </p:sp>
      <p:sp>
        <p:nvSpPr>
          <p:cNvPr id="26" name="Shape 16"/>
          <p:cNvSpPr/>
          <p:nvPr/>
        </p:nvSpPr>
        <p:spPr>
          <a:xfrm>
            <a:off x="2606040" y="30175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88336" y="3099816"/>
            <a:ext cx="164592" cy="164592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3026664" y="3035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Pflege und Gesundheit</a:t>
            </a:r>
            <a:endParaRPr lang="en-US" sz="1050" dirty="0"/>
          </a:p>
        </p:txBody>
      </p:sp>
      <p:sp>
        <p:nvSpPr>
          <p:cNvPr id="29" name="Shape 18"/>
          <p:cNvSpPr/>
          <p:nvPr/>
        </p:nvSpPr>
        <p:spPr>
          <a:xfrm>
            <a:off x="457200" y="35661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" y="3648456"/>
            <a:ext cx="164592" cy="164592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77824" y="3584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Einzelhandel und Nahversorgung</a:t>
            </a:r>
            <a:endParaRPr lang="en-US" sz="1050" dirty="0"/>
          </a:p>
        </p:txBody>
      </p:sp>
      <p:sp>
        <p:nvSpPr>
          <p:cNvPr id="32" name="Shape 20"/>
          <p:cNvSpPr/>
          <p:nvPr/>
        </p:nvSpPr>
        <p:spPr>
          <a:xfrm>
            <a:off x="2606040" y="35661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8336" y="3648456"/>
            <a:ext cx="164592" cy="164592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3026664" y="3584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Mobilität</a:t>
            </a:r>
            <a:endParaRPr lang="en-US" sz="1050" dirty="0"/>
          </a:p>
        </p:txBody>
      </p:sp>
      <p:sp>
        <p:nvSpPr>
          <p:cNvPr id="35" name="Text 22"/>
          <p:cNvSpPr txBox="1"/>
          <p:nvPr/>
        </p:nvSpPr>
        <p:spPr>
          <a:xfrm>
            <a:off x="45720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Je Vorgang: Ort, Art als Filter (zum Beispiel Freiflächen-PV, Agri-PV, Dach-PV) und Stand des Verfahrens (Antrag, Bauleitplanung, Genehmigung, Vergabe).</a:t>
            </a:r>
            <a:endParaRPr lang="en-US" sz="10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846320" y="1325880"/>
          <a:ext cx="3840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37" name="Text 23"/>
          <p:cNvSpPr txBox="1"/>
          <p:nvPr/>
        </p:nvSpPr>
        <p:spPr>
          <a:xfrm>
            <a:off x="4846320" y="4114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Stichproben vom 14.10.26, nur Kategorien mit Messung. Freigabe im Produkt erst ab 90 % Qualität und 80 % Trefferquote.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TOOLS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Zahlen statt Eindrücke: Ortsvergleich und Beschlüsse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42976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25196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Ortsvergleich, Stand 08.10.26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074920" y="128016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212080" y="141732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281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212080" y="183184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Beschlüsse zu Klimaschutz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28016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40880" y="141732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54,7 %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1831848"/>
            <a:ext cx="14630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davon einstimmig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074920" y="260604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212080" y="274320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26 %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5212080" y="3157728"/>
            <a:ext cx="14630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vertagt oder verwiesen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903720" y="260604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040880" y="274320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14 Tage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7040880" y="315772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bis die Hälfte entschieden war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4114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Beschlüsse-Tool, Beispiel „Klimaschutz“, Stand 08.10.26. 6,4 % der Vorgänge wurden abgelehnt.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AUSBREITUNG UND FAKTEN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Sehen, wie sich ein Thema ausbreitet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3456432" cy="2456827"/>
          </a:xfrm>
          <a:prstGeom prst="roundRect">
            <a:avLst>
              <a:gd name="adj" fmla="val 2233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383280" cy="23836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938155"/>
            <a:ext cx="38404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2.499 Kommunen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286643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haben „Photovoltaik“ seit 10/2025 erstmals beraten. Ausbreitung, Stand 08.10.26.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Werte aus den Unterlagen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 Gemeinde auf der Karte, rot bis grün, mit Kreis- und Landesmedian und den Vorgängen hinter jedem Wert.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663440" y="2313432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28032" y="224028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Hebesätze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720840" y="2313432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85432" y="224028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Wasser- und Abwassergebühr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663440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28032" y="25420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Schritt der Wärmeplanung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720840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85432" y="25420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Zuschüsse an Vereine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663440" y="2916936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28032" y="284378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Bauleitplanung, Wohnbau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720840" y="2916936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85432" y="284378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Kita-Gebühren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63440" y="3218688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28032" y="3145536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Jahresergebnis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720840" y="3218688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85432" y="3145536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Wind- und Solarleistung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663440" y="35204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828032" y="3447288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Gewerbegrundstückspreise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720840" y="35204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85432" y="3447288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Hundesteuer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663440" y="3840480"/>
            <a:ext cx="4023360" cy="68580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46320" y="390448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Qualitätstor: </a:t>
            </a:r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auf der Karte erst ab 90 % gemessener Qualität, derzeit Bauleitplanung, Hebesätze und Fraktion. Nur ausdrücklich genannte Werte, keine Schätzungen.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QUALITÄT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Grenzen und Abdeckung offen benannt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88 %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Formalien erkannt (Art des Punkts)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6032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4320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91 %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743200" y="1989328"/>
            <a:ext cx="16459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Thema richtig, wo ein Thema vergeben ist (80 % über alle Titel)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91 %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Stand des Verfahrens richtig („Was geschieht“)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6656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90 %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Schwelle für die Freigabe im Atlas und auf der Karte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743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Frische Stichproben vom 14.10.26 an ungesehenen Berichten; Zahlen werden nach jeder Messung aktualisiert.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182880" cy="1828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Regelbasiert statt Modell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Jede Regel liest nur Titel, Beschlussvorschlag und Unterlage. Ergebnisse sind nachvollziehbar und wiederholbar.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29184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246120"/>
            <a:ext cx="182880" cy="18288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79476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Stand sichtbar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79476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Datum und Uhrzeit über jeder Trefferliste, Quellenstand je Artikel, Abdeckung je Bundesland.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12648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246120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62940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Nur belegbare Zahlen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662940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Jede Zahl führt zu den Vorgängen und Originalquellen. Nicht gemessene Regeln bleiben gesperrt.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STUFEN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Einfache Preise, jederzeit kündbar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61772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4652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Gast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0 €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4652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ohne Konto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44652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Suche in allen Gebieten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4652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9244" y="280416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 Treffer je Suche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4652" y="31028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9244" y="30480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Direkt loslegen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546604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29484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Basic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29484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729484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mit Konto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729484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4076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Alle Treffer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729484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94076" y="280416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Filter und Umkreis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29484" y="31028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4076" y="30480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 gespeicherte Suche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729484" y="33467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894076" y="329184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 aktive Benachrichtigung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631436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814316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Pro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814316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4814316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monatlich kündbar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814316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78908" y="256032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Alle Treffer, Filter, Umkreis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814316" y="30114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978908" y="295656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gespeicherte Suchen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814316" y="34076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78908" y="33528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gespeicherte Artikel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814316" y="36515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978908" y="359664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Benachrichtigungen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16268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99148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Enterprise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899148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6899148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für Teams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899148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063740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Alles aus Pro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899148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063740" y="280416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Sitzungskalender mit Abo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6899148" y="32552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063740" y="32004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plenara.X: alle Analysen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899148" y="34991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63740" y="344424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5 E-Mail-Empfänger je Alarm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Plenara in der Testphase: Stufen schalten wir derzeit auf Anfrage frei, die Preise folgen. Stand 15.10.26, plenara.de/preise.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2926080" cy="1085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2860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Besser verstehen,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was vor Ort beraten wird.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www.plenara.de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4069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Beschlüsse und Beratungen aus den offiziellen Ratsinformationssystemen der Kommunen. Maßgeblich sind stets die verlinkten Originalunterlagen.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enara">
  <a:themeElements>
    <a:clrScheme name="Plenara">
      <a:dk1>
        <a:srgbClr val="18181B"/>
      </a:dk1>
      <a:lt1>
        <a:srgbClr val="FFFFFF"/>
      </a:lt1>
      <a:dk2>
        <a:srgbClr val="191E1D"/>
      </a:dk2>
      <a:lt2>
        <a:srgbClr val="F4F4F5"/>
      </a:lt2>
      <a:accent1>
        <a:srgbClr val="268478"/>
      </a:accent1>
      <a:accent2>
        <a:srgbClr val="1F7065"/>
      </a:accent2>
      <a:accent3>
        <a:srgbClr val="52525B"/>
      </a:accent3>
      <a:accent4>
        <a:srgbClr val="A1A1AA"/>
      </a:accent4>
      <a:accent5>
        <a:srgbClr val="E6F3F1"/>
      </a:accent5>
      <a:accent6>
        <a:srgbClr val="E4E4E7"/>
      </a:accent6>
      <a:hlink>
        <a:srgbClr val="29467A"/>
      </a:hlink>
      <a:folHlink>
        <a:srgbClr val="29467A"/>
      </a:folHlink>
    </a:clrScheme>
    <a:fontScheme name="Office">
      <a:majorFont>
        <a:latin typeface="IBM Plex Sans SmB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plenara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Plenara Firmenpräsentation</dc:title>
  <dc:subject>Besser verstehen, was vor Ort beraten wird.</dc:subject>
  <dc:creator>plenara</dc:creator>
  <cp:lastModifiedBy>plenara</cp:lastModifiedBy>
  <cp:revision>1</cp:revision>
  <dcterms:created xsi:type="dcterms:W3CDTF">2026-10-22T08:20:12Z</dcterms:created>
  <dcterms:modified xsi:type="dcterms:W3CDTF">2026-10-22T08:20:12Z</dcterms:modified>
</cp:coreProperties>
</file>