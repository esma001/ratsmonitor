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lenara" id="{53d43fb8-25a4-6fb8-bc51-50417cd6e39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lenara.X" id="{50f31671-32e3-c918-6ce3-dacf6ddd1085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100" b="0" i="0" u="none" strike="noStrike">
                <a:solidFill>
                  <a:srgbClr val="0F172A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+mj-lt"/>
              </a:rPr>
              <a:t>Richtig erkannt je 20 Stichproben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richtig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Vergaben</c:v>
                  </c:pt>
                  <c:pt idx="1">
                    <c:v>Windenergie</c:v>
                  </c:pt>
                  <c:pt idx="2">
                    <c:v>Gewerbe</c:v>
                  </c:pt>
                  <c:pt idx="3">
                    <c:v>Solar</c:v>
                  </c:pt>
                  <c:pt idx="4">
                    <c:v>Wärme</c:v>
                  </c:pt>
                  <c:pt idx="5">
                    <c:v>Wohnbau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20</c:v>
                </c:pt>
                <c:pt idx="2">
                  <c:v>19</c:v>
                </c:pt>
                <c:pt idx="3">
                  <c:v>19</c:v>
                </c:pt>
                <c:pt idx="4">
                  <c:v>18</c:v>
                </c:pt>
                <c:pt idx="5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100" b="0" i="0" u="none" strike="noStrike">
                <a:solidFill>
                  <a:srgbClr val="0F172A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+mj-lt"/>
              </a:rPr>
              <a:t>Beratungen zu „Klimaschutz“ je Ort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Beratungen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Erfurt</c:v>
                  </c:pt>
                  <c:pt idx="1">
                    <c:v>Münster</c:v>
                  </c:pt>
                  <c:pt idx="2">
                    <c:v>Stuttgart</c:v>
                  </c:pt>
                  <c:pt idx="3">
                    <c:v>Leipzig</c:v>
                  </c:pt>
                  <c:pt idx="4">
                    <c:v>Mainz</c:v>
                  </c:pt>
                  <c:pt idx="5">
                    <c:v>Köln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274</c:v>
                </c:pt>
                <c:pt idx="1">
                  <c:v>49</c:v>
                </c:pt>
                <c:pt idx="2">
                  <c:v>29</c:v>
                </c:pt>
                <c:pt idx="3">
                  <c:v>25</c:v>
                </c:pt>
                <c:pt idx="4">
                  <c:v>18</c:v>
                </c:pt>
                <c:pt idx="5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Plenara ist ein Portal, das die öffentlichen Ratsinformationssysteme der Kommunen zusammenführt. Der Slogan ist fest: „Besser verstehen, was vor Ort beraten wird.“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Ausgangslage: Beschlüsse stehen zuerst in den Ratsinformationssystemen, lange vor Presse und Ausschreibung. Jede Kommune betreibt ihr eigenes System. Die Zahlen stammen von der Startseite plenara.de, Stand 15.10.26.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drei Bausteine: Suche mit Karte, Benachrichtigungen, plenara.X. Die Suche ist kostenlos nutzbar, plenara.X gehört zum Tarif Enterprise.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entsteht der Datenbestand: Abruf alle 10 Minuten, Unterlagen als PDF mit Textebene und OCR, feste Regeln je Bericht, daraus Suche, Alarme und plenara.X. Kurzfassungen in der Suche tragen ein KI-Label; plenara.X selbst arbeitet ohne Modell.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Zielgruppen und ihre Fragen. Branchen nutzen Signale und Alarme, Verbände und Kämmereien die Fakten, Politik und Presse die Tools. Die Suche ist für alle offen.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Teil 1: die Oberfläche von Plenara anhand echter Seiten vom 15.10.26.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Beispiel „Windkraft“ ohne Ortswahl: 1.108 Treffer über alle Kommunen, Zahlen je Gebiet auf der Karte. Stand der Suche 11.10.26. Filter: Zeitraum, Thema, Status, Umkreis, exakter Begriff.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Trefferliste zeigt zu jedem Vorgang den Zeitstrahl: Ortschaftsrat, Ausschuss, Rat, jeweils mit Datum und Stand. Status erscheint als schlichter Text. Export als Excel oder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Jeder Artikel zeigt den Auszug aus der Vorlage mit Originalsätzen, Vorlagennummer und Link zur Quelle. Rechts die Angaben auf einen Blick: Sitzung, Gremium, Vorlage, Gebiet, Stand, Quellenstand.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Benachrichtigungen: Jede Suche lässt sich speichern, neue Treffer kommen per E-Mail, sofort, täglich oder wöchentlich am Wunschtag. Dazu der Sitzungskalender zum Abonnieren.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Teil 2: plenara.X, der Analyse-Teil. Grundlage sind dieselben Ratsunterlagen wie in der Suche; plenara.X zählt Vorgänge über alle Kommunen.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Jede Auswertung geht denselben Weg: Auswahl über die normale Suche, Zählen der Vorgänge (Formalien nie, gleiche Titel je Gebiet einmal), Anreichern mit Thema, Art und Werten. Vier Seiten: Signale, Fakten, Atlas,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Signale: zehn Kategorien von Ereignissen, je Vorgang Art (Filter) und Stand des Verfahrens. Die Qualität ist je Kategorie an 20 Stichproben gemessen (14.10.26); Kategorien ohne Messung sind nicht freigegeben.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Beispiel Klimaschutz (Stand 08.10.26): Ortsvergleich zählt Beratungen je Ort; das Beschlüsse-Tool zeigt, wie Gremien entscheiden: 281 Beschlüsse, 54,7 % einstimmig, 26 % vertagt, 6,4 % abgelehnt, die Hälfte nach 14 Tagen entschieden.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Ausbreitung zeigt, wer zuerst dran war und wie schnell andere folgten: 2.499 Kommunen haben Photovoltaik seit Oktober 2025 erstmals beraten. Fakten: Werte aus den Unterlagen je Gemeinde; auf der Karte erst ab 90 % gemessener Qualität, derzeit Bauleitplanung, Hebesätze und Fraktion.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Grenzen offen benannt: Die Regeln sind gemessen (frische Stichproben 14.10.26): Formalien 88 % erkannt, Thema 91 % richtig, wo ein Thema vergeben ist, Stand des Verfahrens 91 %. Freigabe im Produkt erst ab 90 %. Datenstand steht über jeder Trefferliste.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Stufen: Gast ohne Konto mit 10 Treffern je Suche; Basic, Pro und Enterprise mit Konto. plenara.X und der Sitzungskalender gehören zu Enterprise. In der Testphase schalten wir Stufen auf Anfrage frei; die Preise folgen.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 mit dem Slogan. Kontakt über www.plenara.de.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DUNKEL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TRENNER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L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773168"/>
            <a:ext cx="542536" cy="1828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200" kern="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NKE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NN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78892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754880"/>
            <a:ext cx="542476" cy="20116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1" Type="http://schemas.openxmlformats.org/officeDocument/2006/relationships/chart" Target="/ppt/charts/chart1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4023360" cy="14919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6060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Besser verstehen,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was vor Ort beraten wird.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4160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Firmenpräsentation  ·  Stand 15.10.26  ·  www.plenara.de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AUSGANGSLAGE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Was vor Ort beraten wird, steht in über 8.000 Systemen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472184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17320"/>
            <a:ext cx="38862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Beschlüsse stehen zuerst im Ratsinformationssystem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850136"/>
            <a:ext cx="38862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Bebauungspläne, Vergaben, Gebühren und Standorte werden dort beraten, bevor Presse oder Ausschreibung davon berichten.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631948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577084"/>
            <a:ext cx="388620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Jede Kommune hat ihr eigenes System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811780"/>
            <a:ext cx="38862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Wer mehrere Orte oder ein Thema verfolgt, muss täglich viele Portale öffnen und durchsuchen.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3418332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3363468"/>
            <a:ext cx="388620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Plenara führt sie zusammen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598164"/>
            <a:ext cx="38862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Ein Portal, eine Suche, ein Stand für ganz Deutschland. Jede Angabe führt zur Originalquelle.</a:t>
            </a:r>
            <a:endParaRPr lang="en-US" sz="11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325880"/>
            <a:ext cx="1600200" cy="196947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766560" y="1371600"/>
            <a:ext cx="20116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8.076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6766560" y="18851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Kommunen und Gebiete mit Ratsinformationssystem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6766560" y="2461260"/>
            <a:ext cx="20116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1.394.044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6766560" y="297484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Berichte aus Räten und Ausschüssen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766560" y="3550920"/>
            <a:ext cx="20116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160.340</a:t>
            </a:r>
            <a:endParaRPr lang="en-US" sz="3000" dirty="0"/>
          </a:p>
        </p:txBody>
      </p:sp>
      <p:sp>
        <p:nvSpPr>
          <p:cNvPr id="20" name="Text 16"/>
          <p:cNvSpPr txBox="1"/>
          <p:nvPr/>
        </p:nvSpPr>
        <p:spPr>
          <a:xfrm>
            <a:off x="6766560" y="4064508"/>
            <a:ext cx="20116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Berichte in den letzten 30 Tagen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6766560" y="43434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Stand 15.10.26, plenara.de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PLENARA AUF EINEN BLICK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Ein Portal statt vieler Systeme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651760" cy="31546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5800" y="1600200"/>
            <a:ext cx="402336" cy="40233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00784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Suche und Karte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468880"/>
            <a:ext cx="2194560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Ganz Deutschland mit einem Begriff, Treffer auf der Karte, Stand jedes Vorgangs auf einen Blick.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85800" y="3444240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68680" y="3398520"/>
            <a:ext cx="201168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Filter: Zeitraum, Thema, Status, Umkreis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85800" y="3870960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68680" y="3825240"/>
            <a:ext cx="201168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Export als Excel, CSV oder PDF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85800" y="4130040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68680" y="4084320"/>
            <a:ext cx="201168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Suche ohne Anmeldung nutzbar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337560" y="1371600"/>
            <a:ext cx="2651760" cy="31546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566160" y="1600200"/>
            <a:ext cx="402336" cy="40233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1700784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56616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Benachrichtigungen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3566160" y="2468880"/>
            <a:ext cx="219456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Alarme per E-Mail statt tägliches Suchen: sofort, täglich oder am Wunschtag.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3566160" y="3268980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749040" y="3223260"/>
            <a:ext cx="201168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Gespeicherte Suchen mit Glocke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3566160" y="3695700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3749040" y="3649980"/>
            <a:ext cx="201168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Wochenbericht am Wunschtag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566160" y="3954780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749040" y="3909060"/>
            <a:ext cx="201168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Sitzungskalender zum Abonnieren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217920" y="1371600"/>
            <a:ext cx="2651760" cy="315468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46520" y="1600200"/>
            <a:ext cx="402336" cy="402336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700784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44652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plenara.X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6446520" y="2468880"/>
            <a:ext cx="2194560" cy="719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Analysen über alle Kommunen: Signale, Fakten, Atlas und Tools, jede Zahl mit Vorgängen und Quelle.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446520" y="3444240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629400" y="3398520"/>
            <a:ext cx="201168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Regelbasiert, kein KI-Modell im Ablauf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446520" y="3870960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6629400" y="3825240"/>
            <a:ext cx="201168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Freigabe erst ab 90 % gemessener Qualität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446520" y="4297680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629400" y="4251960"/>
            <a:ext cx="2011680" cy="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Teil des Tarifs Enterprise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SO ENTSTEHT DER DATENBESTAND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Vom Ratsinformationssystem zur Antwort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47472" y="1417320"/>
            <a:ext cx="1536192" cy="214884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0352" y="160020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91640"/>
            <a:ext cx="182880" cy="18288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26464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30352" y="2103120"/>
            <a:ext cx="117043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Abruf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30352" y="2339340"/>
            <a:ext cx="1170432" cy="1135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Alle 10 Minuten neue Berichte aus den Ratsinformationssystemen, nachts vollständig.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1883664" y="23088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›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075688" y="1417320"/>
            <a:ext cx="1536192" cy="214884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258568" y="160020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69164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154680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2258568" y="2103120"/>
            <a:ext cx="117043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Unterlagen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2258568" y="2339340"/>
            <a:ext cx="1170432" cy="1135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Hauptdokument als PDF, Textebene lesen, Scans per OCR.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3611880" y="23088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›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3803904" y="1417320"/>
            <a:ext cx="1536192" cy="214884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986784" y="160020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224" y="1691640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882896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3986784" y="2103120"/>
            <a:ext cx="117043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Regeln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3986784" y="2339340"/>
            <a:ext cx="1170432" cy="1135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Art des Punkts, Thema, Stand und Werte nach festen Regeln je Bericht.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5340096" y="23088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›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532120" y="1417320"/>
            <a:ext cx="1536192" cy="214884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715000" y="160020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691640"/>
            <a:ext cx="182880" cy="18288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611112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5715000" y="2103120"/>
            <a:ext cx="1170432" cy="399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Suche und Alarme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5715000" y="2529840"/>
            <a:ext cx="1170432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Trefferliste, Karte, Zeitstrahl; gespeicherte Suchen lösen E-Mails aus.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7068312" y="2308860"/>
            <a:ext cx="192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›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7260336" y="1417320"/>
            <a:ext cx="1536192" cy="2148840"/>
          </a:xfrm>
          <a:prstGeom prst="roundRect">
            <a:avLst>
              <a:gd name="adj" fmla="val 595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443216" y="160020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56" y="1691640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339328" y="1618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29"/>
          <p:cNvSpPr txBox="1"/>
          <p:nvPr/>
        </p:nvSpPr>
        <p:spPr>
          <a:xfrm>
            <a:off x="7443216" y="2103120"/>
            <a:ext cx="1170432" cy="208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plenara.X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7443216" y="2339340"/>
            <a:ext cx="1170432" cy="1135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Vorgänge über alle Kommunen zählen: Signale, Fakten, Atlas, Tools.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40080" y="3931920"/>
            <a:ext cx="402336" cy="40233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4032504"/>
            <a:ext cx="201168" cy="201168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18872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Jede Angabe führt zur Originalquelle. </a:t>
            </a:r>
            <a:pPr algn="l" indent="0" marL="0">
              <a:buNone/>
            </a:pPr>
            <a:r>
              <a:rPr lang="en-US" sz="1150" dirty="0">
                <a:solidFill>
                  <a:schemeClr val="accent2"/>
                </a:solidFill>
              </a:rPr>
              <a:t>plenara.X arbeitet rein regelbasiert und ohne KI-Modell; Kurzfassungen in der Suche sind als KI-Text gekennzeichnet. Der Server erzeugt alles aus den Unterlagen der Kommunen.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FÜR WEN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Vier Gruppen, vier Fragen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005840" y="1325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chemeClr val="accent4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GRUPPE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3657600" y="13258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chemeClr val="accent4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FRAGE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1325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spc="150" kern="0" dirty="0">
                <a:solidFill>
                  <a:schemeClr val="accent4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IN PLENARA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8229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801368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280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05840" y="177393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Branchen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005840" y="201168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Bau, Ingenieurbüros, Energie, Projektentwicklung, Telekommunikation, Mobilität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17739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Wo entsteht gerade etwas, das für uns ein Auftrag werden kann?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675120" y="17739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Signale, Alarme, Suche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377440"/>
            <a:ext cx="8229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7200" y="2532888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24328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05840" y="250545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Verbände und Verwaltung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1005840" y="2743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Verbände, Kämmereien, Wirtschaftsförderung, Beratung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3657600" y="250545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Was kostet es wo, wo steigt es? Steuern, Gebühren, Haushalt, Preise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6675120" y="25054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Fakten, Atlas, Ortsvergleich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108960"/>
            <a:ext cx="8229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57200" y="3264408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55848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05840" y="32369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Politik und Presse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1005840" y="34747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Fraktionen, Redaktionen, Forschung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3657600" y="323697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Wer beantragt was, wie entscheiden Gremien, was ist berichtenswert?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6675120" y="32369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Tools, Newsradar, Fraktionsprofil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57200" y="3995928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87368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005840" y="39684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Bürgerinnen und Bürger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1005840" y="420624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Ehrenamt, Vereine, Nachbarschaft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3657600" y="396849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Was wird in meinem Ort beraten, und wann ist die Sitzung?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6675120" y="39684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Suche kostenlos, Kalender, Benachrichtigungen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457200" y="4572000"/>
            <a:ext cx="822960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</a:rPr>
              <a:t>Plenara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Suche, Karte, Artikel und Benachrichtigungen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SUCHE UND KARTE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Ganz Deutschland mit einem Begriff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472184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17320"/>
            <a:ext cx="297180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1.108 Treffer für „Windkraft“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652016"/>
            <a:ext cx="29718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Ohne Ortswahl über alle Kommunen, Stand der Suche 11.10.26.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258568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203704"/>
            <a:ext cx="297180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Zahlen je Gebiet auf der Karte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438400"/>
            <a:ext cx="29718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Flächen, Punkte und Häufungen; ein Klick auf ein Gebiet zeigt dessen Beschlüsse.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3044952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990088"/>
            <a:ext cx="297180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Gezielt eingrenzen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224784"/>
            <a:ext cx="29718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Zeitraum, Thema, Status, Umkreis, künftige Sitzungen, exakter Begriff.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831336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776472"/>
            <a:ext cx="297180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Ort direkt erkannt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4011168"/>
            <a:ext cx="29718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Stadt, Gemeinde, Kreis oder Region in derselben Suchleiste.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941064" y="1335024"/>
            <a:ext cx="4782312" cy="3142515"/>
          </a:xfrm>
          <a:prstGeom prst="roundRect">
            <a:avLst>
              <a:gd name="adj" fmla="val 1746"/>
            </a:avLst>
          </a:prstGeom>
          <a:solidFill>
            <a:schemeClr val="bg1"/>
          </a:solidFill>
          <a:ln w="9525">
            <a:solidFill>
              <a:srgbClr val="E8EDF2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0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371600"/>
            <a:ext cx="4709160" cy="306936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TREFFERLISTE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Stand jedes Vorgangs auf einen Blick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20624" y="1335024"/>
            <a:ext cx="5579503" cy="2176272"/>
          </a:xfrm>
          <a:prstGeom prst="roundRect">
            <a:avLst>
              <a:gd name="adj" fmla="val 2521"/>
            </a:avLst>
          </a:prstGeom>
          <a:solidFill>
            <a:schemeClr val="bg1"/>
          </a:solidFill>
          <a:ln w="9525">
            <a:solidFill>
              <a:srgbClr val="E8EDF2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506351" cy="21031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70332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94760"/>
            <a:ext cx="182880" cy="1828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60120" y="3721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Zeitstrahl</a:t>
            </a:r>
            <a:endParaRPr lang="en-US" sz="1250" dirty="0"/>
          </a:p>
        </p:txBody>
      </p:sp>
      <p:sp>
        <p:nvSpPr>
          <p:cNvPr id="10" name="Text 5"/>
          <p:cNvSpPr txBox="1"/>
          <p:nvPr/>
        </p:nvSpPr>
        <p:spPr>
          <a:xfrm>
            <a:off x="96012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Vom Ortschaftsrat über den Ausschuss bis zum Rat, mit Datum und Stand jeder Station.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3291840" y="370332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3794760"/>
            <a:ext cx="182880" cy="18288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3794760" y="3721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Status als Text</a:t>
            </a:r>
            <a:endParaRPr lang="en-US" sz="1250" dirty="0"/>
          </a:p>
        </p:txBody>
      </p:sp>
      <p:sp>
        <p:nvSpPr>
          <p:cNvPr id="14" name="Text 8"/>
          <p:cNvSpPr txBox="1"/>
          <p:nvPr/>
        </p:nvSpPr>
        <p:spPr>
          <a:xfrm>
            <a:off x="379476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Angekündigt, in Beratung, beschlossen, vertagt, abgelehnt: ohne bunte Abzeichen.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6126480" y="370332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794760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629400" y="37216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Export</a:t>
            </a:r>
            <a:endParaRPr lang="en-US" sz="1250" dirty="0"/>
          </a:p>
        </p:txBody>
      </p:sp>
      <p:sp>
        <p:nvSpPr>
          <p:cNvPr id="18" name="Text 11"/>
          <p:cNvSpPr txBox="1"/>
          <p:nvPr/>
        </p:nvSpPr>
        <p:spPr>
          <a:xfrm>
            <a:off x="6629400" y="39776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Trefferliste als Excel oder CSV, jeder Artikel als PDF oder zum Drucken.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ARTIKEL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Jede Angabe mit Originalquelle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20624" y="1335024"/>
            <a:ext cx="5193792" cy="2989072"/>
          </a:xfrm>
          <a:prstGeom prst="roundRect">
            <a:avLst>
              <a:gd name="adj" fmla="val 1835"/>
            </a:avLst>
          </a:prstGeom>
          <a:solidFill>
            <a:schemeClr val="bg1"/>
          </a:solidFill>
          <a:ln w="9525">
            <a:solidFill>
              <a:srgbClr val="E8EDF2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120640" cy="2915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943600" y="1472184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172200" y="1417320"/>
            <a:ext cx="251460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Auszug aus der Vorlage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172200" y="1652016"/>
            <a:ext cx="25146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Originalsätze mit Vorlagennummer und Link zur Quelle im Ratsinformationssystem.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943600" y="2415540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172200" y="2360676"/>
            <a:ext cx="251460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Auf einen Blick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172200" y="2595372"/>
            <a:ext cx="25146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Sitzung, Gremium, Vorlage, Gebiet, Stand und Quellenstand.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943600" y="3183636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72200" y="3128772"/>
            <a:ext cx="251460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Verlauf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172200" y="3363468"/>
            <a:ext cx="25146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Alle Stationen des Vorgangs mit ihren Unterlagen.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943600" y="3951732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172200" y="3896868"/>
            <a:ext cx="251460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Merken, teilen, abonnieren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172200" y="4131564"/>
            <a:ext cx="251460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Lesezeichen, Teilen, Glocke je Artikel, Export als PDF.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BENACHRICHTIGUNGEN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Alarme per E-Mail statt tägliches Suchen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472184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417320"/>
            <a:ext cx="333756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Gespeicherte Suche mit Glocke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652016"/>
            <a:ext cx="3337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Jede Suche lässt sich speichern; neue Treffer kommen per E-Mail.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2258568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203704"/>
            <a:ext cx="333756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Sofort, täglich oder wöchentlich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438400"/>
            <a:ext cx="3337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Wochenbericht am Wunschtag, bis zu 5 Empfänger je Benachrichtigung (Enterprise).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3044952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990088"/>
            <a:ext cx="333756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Sitzungskalender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224784"/>
            <a:ext cx="3337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Sitzungen zu Ihren Themen abonnieren und keine Sitzung verpassen.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831336"/>
            <a:ext cx="91440" cy="91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776472"/>
            <a:ext cx="3337560" cy="216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Fristen im Blick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4011168"/>
            <a:ext cx="333756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Auslegungen, Stellungnahmen und Vergaben rechtzeitig erfahren.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306824" y="1335024"/>
            <a:ext cx="4416552" cy="2570607"/>
          </a:xfrm>
          <a:prstGeom prst="roundRect">
            <a:avLst>
              <a:gd name="adj" fmla="val 2134"/>
            </a:avLst>
          </a:prstGeom>
          <a:solidFill>
            <a:schemeClr val="bg1"/>
          </a:solidFill>
          <a:ln w="9525">
            <a:solidFill>
              <a:srgbClr val="E8EDF2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0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371600"/>
            <a:ext cx="4343400" cy="249745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731520" y="14630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2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20240"/>
            <a:ext cx="3108960" cy="1152906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Analysen über alle Kommunen</a:t>
            </a:r>
            <a:endParaRPr lang="en-US" sz="16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PLENARA.X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Ein Weg für alle Auswertungen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2651760" cy="960120"/>
          </a:xfrm>
          <a:prstGeom prst="roundRect">
            <a:avLst>
              <a:gd name="adj" fmla="val 9524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645920"/>
            <a:ext cx="402336" cy="40233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46504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70432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Auswahl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170432" y="18013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über die normale Suche: Begriff, Ort, Zeitraum, Thema, Status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3090672" y="166878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›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3246120" y="1371600"/>
            <a:ext cx="2651760" cy="960120"/>
          </a:xfrm>
          <a:prstGeom prst="roundRect">
            <a:avLst>
              <a:gd name="adj" fmla="val 9524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429000" y="1645920"/>
            <a:ext cx="402336" cy="40233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746504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59352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Zählen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959352" y="18013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Vorgänge statt Treffer: Formalien nie, gleiche Titel je Gebiet einmal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5879592" y="166878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›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035040" y="1371600"/>
            <a:ext cx="2651760" cy="960120"/>
          </a:xfrm>
          <a:prstGeom prst="roundRect">
            <a:avLst>
              <a:gd name="adj" fmla="val 9524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217920" y="1645920"/>
            <a:ext cx="402336" cy="402336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746504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748272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Anreichern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748272" y="18013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Thema und Unterthema, Art des Vorgangs, Stand, Werte aus den Unterlagen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61772" y="2542032"/>
            <a:ext cx="1965960" cy="210312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4652" y="272491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2816352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44652" y="3200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plenara.X Signale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644652" y="3474720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Wo gerade etwas entsteht: Wohn- und Gewerbegebiete, Wind, Solar, Wärme, Schulen, Straßen, Mobilität. Je Vorgang Ort, Stand und Quelle.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2546604" y="2542032"/>
            <a:ext cx="1965960" cy="210312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2729484" y="272491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0924" y="2816352"/>
            <a:ext cx="182880" cy="18288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2729484" y="3200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plenara.X Fakten</a:t>
            </a:r>
            <a:endParaRPr lang="en-US" sz="1250" dirty="0"/>
          </a:p>
        </p:txBody>
      </p:sp>
      <p:sp>
        <p:nvSpPr>
          <p:cNvPr id="31" name="Text 23"/>
          <p:cNvSpPr txBox="1"/>
          <p:nvPr/>
        </p:nvSpPr>
        <p:spPr>
          <a:xfrm>
            <a:off x="2729484" y="3474720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Hebesätze, Gebühren, Jahresergebnisse und Grundstückspreise je Gemeinde auf der Karte. Nur Werte ab 90 % gemessener Qualität.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4631436" y="2542032"/>
            <a:ext cx="1965960" cy="210312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4814316" y="272491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5756" y="2816352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814316" y="3200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plenara.X Atlas</a:t>
            </a:r>
            <a:endParaRPr lang="en-US" sz="1250" dirty="0"/>
          </a:p>
        </p:txBody>
      </p:sp>
      <p:sp>
        <p:nvSpPr>
          <p:cNvPr id="36" name="Text 27"/>
          <p:cNvSpPr txBox="1"/>
          <p:nvPr/>
        </p:nvSpPr>
        <p:spPr>
          <a:xfrm>
            <a:off x="4814316" y="3474720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Worüber die Räte beraten, nach den 10 Themen der Suche: Unterthemen, Verlauf, Orte und der Vergleich mit ähnlichen Gemeinden.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6716268" y="2542032"/>
            <a:ext cx="1965960" cy="210312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8" name="Shape 29"/>
          <p:cNvSpPr/>
          <p:nvPr/>
        </p:nvSpPr>
        <p:spPr>
          <a:xfrm>
            <a:off x="6899148" y="2724912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0588" y="2816352"/>
            <a:ext cx="182880" cy="18288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899148" y="3200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plenara.X Tools</a:t>
            </a:r>
            <a:endParaRPr lang="en-US" sz="1250" dirty="0"/>
          </a:p>
        </p:txBody>
      </p:sp>
      <p:sp>
        <p:nvSpPr>
          <p:cNvPr id="41" name="Text 31"/>
          <p:cNvSpPr txBox="1"/>
          <p:nvPr/>
        </p:nvSpPr>
        <p:spPr>
          <a:xfrm>
            <a:off x="6899148" y="3474720"/>
            <a:ext cx="1600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Ausbreitung, Themennetz, Trends, Ortsvergleich, Beschlüsse, Beratungswege, Fraktionsprofil und Newsradar, mit jedem Suchbegriff.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PLENARA.X SIGNALE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Wo gerade etwas entsteht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453896"/>
            <a:ext cx="164592" cy="16459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77824" y="13898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Ausschreibungen und Vergaben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2606040" y="137160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1453896"/>
            <a:ext cx="164592" cy="16459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026664" y="13898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Neue Wohnbaugebiete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457200" y="192024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002536"/>
            <a:ext cx="164592" cy="16459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77824" y="19385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Gewerbe- und Industrieflächen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2606040" y="192024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8336" y="2002536"/>
            <a:ext cx="164592" cy="16459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026664" y="19385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Windenergie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457200" y="246888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2551176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77824" y="24871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Solarenergie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2606040" y="246888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8336" y="2551176"/>
            <a:ext cx="164592" cy="16459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3026664" y="24871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Wärme und Energieeffizienz</a:t>
            </a:r>
            <a:endParaRPr lang="en-US" sz="1050" dirty="0"/>
          </a:p>
        </p:txBody>
      </p:sp>
      <p:sp>
        <p:nvSpPr>
          <p:cNvPr id="23" name="Shape 14"/>
          <p:cNvSpPr/>
          <p:nvPr/>
        </p:nvSpPr>
        <p:spPr>
          <a:xfrm>
            <a:off x="457200" y="301752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" y="3099816"/>
            <a:ext cx="164592" cy="16459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877824" y="30358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Schulen, Kitas und Sportstätten</a:t>
            </a:r>
            <a:endParaRPr lang="en-US" sz="1050" dirty="0"/>
          </a:p>
        </p:txBody>
      </p:sp>
      <p:sp>
        <p:nvSpPr>
          <p:cNvPr id="26" name="Shape 16"/>
          <p:cNvSpPr/>
          <p:nvPr/>
        </p:nvSpPr>
        <p:spPr>
          <a:xfrm>
            <a:off x="2606040" y="301752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88336" y="3099816"/>
            <a:ext cx="164592" cy="164592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3026664" y="30358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Pflege und Gesundheit</a:t>
            </a:r>
            <a:endParaRPr lang="en-US" sz="1050" dirty="0"/>
          </a:p>
        </p:txBody>
      </p:sp>
      <p:sp>
        <p:nvSpPr>
          <p:cNvPr id="29" name="Shape 18"/>
          <p:cNvSpPr/>
          <p:nvPr/>
        </p:nvSpPr>
        <p:spPr>
          <a:xfrm>
            <a:off x="457200" y="356616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96" y="3648456"/>
            <a:ext cx="164592" cy="164592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877824" y="35844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Einzelhandel und Nahversorgung</a:t>
            </a:r>
            <a:endParaRPr lang="en-US" sz="1050" dirty="0"/>
          </a:p>
        </p:txBody>
      </p:sp>
      <p:sp>
        <p:nvSpPr>
          <p:cNvPr id="32" name="Shape 20"/>
          <p:cNvSpPr/>
          <p:nvPr/>
        </p:nvSpPr>
        <p:spPr>
          <a:xfrm>
            <a:off x="2606040" y="3566160"/>
            <a:ext cx="329184" cy="32918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88336" y="3648456"/>
            <a:ext cx="164592" cy="164592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3026664" y="35844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Mobilität</a:t>
            </a:r>
            <a:endParaRPr lang="en-US" sz="1050" dirty="0"/>
          </a:p>
        </p:txBody>
      </p:sp>
      <p:sp>
        <p:nvSpPr>
          <p:cNvPr id="35" name="Text 22"/>
          <p:cNvSpPr txBox="1"/>
          <p:nvPr/>
        </p:nvSpPr>
        <p:spPr>
          <a:xfrm>
            <a:off x="457200" y="4160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Je Vorgang: Ort, Art als Filter (zum Beispiel Freiflächen-PV, Agri-PV, Dach-PV) und Stand des Verfahrens (Antrag, Bauleitplanung, Genehmigung, Vergabe).</a:t>
            </a:r>
            <a:endParaRPr lang="en-US" sz="100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4846320" y="132588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37" name="Text 23"/>
          <p:cNvSpPr txBox="1"/>
          <p:nvPr/>
        </p:nvSpPr>
        <p:spPr>
          <a:xfrm>
            <a:off x="4846320" y="41148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Stichproben vom 14.10.26, nur Kategorien mit Messung. Freigabe im Produkt erst ab 90 % Qualität und 80 % Trefferquote.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PLENARA.X TOOLS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Zahlen statt Eindrücke: Ortsvergleich und Beschlüsse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25880"/>
          <a:ext cx="42976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519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Ortsvergleich, Stand 08.10.26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5074920" y="1280160"/>
            <a:ext cx="16916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212080" y="1417320"/>
            <a:ext cx="14630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281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5212080" y="183184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Beschlüsse zu Klimaschutz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903720" y="1280160"/>
            <a:ext cx="16916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040880" y="1417320"/>
            <a:ext cx="14630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54,7 %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7040880" y="1831848"/>
            <a:ext cx="1463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davon einstimmig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074920" y="2606040"/>
            <a:ext cx="16916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212080" y="2743200"/>
            <a:ext cx="14630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26 %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5212080" y="3157728"/>
            <a:ext cx="146304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vertagt oder verwiesen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903720" y="2606040"/>
            <a:ext cx="169164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040880" y="2743200"/>
            <a:ext cx="14630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14 Tage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7040880" y="315772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bis die Hälfte entschieden war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5074920" y="4114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Beschlüsse-Tool, Beispiel „Klimaschutz“, Stand 08.10.26. 6,4 % der Vorgänge wurden abgelehnt.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PLENARA.X AUSBREITUNG UND FAKTEN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Sehen, wie sich ein Thema ausbreitet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20624" y="1335024"/>
            <a:ext cx="3456432" cy="2456827"/>
          </a:xfrm>
          <a:prstGeom prst="roundRect">
            <a:avLst>
              <a:gd name="adj" fmla="val 2233"/>
            </a:avLst>
          </a:prstGeom>
          <a:solidFill>
            <a:schemeClr val="bg1"/>
          </a:solidFill>
          <a:ln w="9525">
            <a:solidFill>
              <a:srgbClr val="E8EDF2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383280" cy="23836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938155"/>
            <a:ext cx="38404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2.499 Kommunen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286643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haben „Photovoltaik“ seit 10/2025 erstmals beraten. Ausbreitung, Stand 08.10.26.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Werte aus den Unterlagen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1664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Je Gemeinde auf der Karte, rot bis grün, mit Kreis- und Landesmedian und den Vorgängen hinter jedem Wert.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663440" y="2313432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828032" y="224028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Hebesätze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720840" y="2313432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885432" y="224028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Wasser- und Abwassergebühr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663440" y="261518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828032" y="254203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Schritt der Wärmeplanung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720840" y="261518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885432" y="254203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Zuschüsse an Vereine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663440" y="2916936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828032" y="2843784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Bauleitplanung, Wohnbau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720840" y="2916936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885432" y="2843784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Kita-Gebühren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663440" y="3218688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828032" y="314553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Jahresergebnis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720840" y="3218688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885432" y="3145536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Wind- und Solarleistung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663440" y="3520440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828032" y="344728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Gewerbegrundstückspreise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720840" y="3520440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885432" y="344728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Hundesteuer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663440" y="3840480"/>
            <a:ext cx="4023360" cy="68580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846320" y="390448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Qualitätstor: </a:t>
            </a:r>
            <a:pPr algn="l" indent="0" marL="0">
              <a:buNone/>
            </a:pPr>
            <a:r>
              <a:rPr lang="en-US" sz="1000" dirty="0">
                <a:solidFill>
                  <a:schemeClr val="accent2"/>
                </a:solidFill>
              </a:rPr>
              <a:t>auf der Karte erst ab 90 % gemessener Qualität, derzeit Bauleitplanung, Hebesätze und Fraktion. Nur ausdrücklich genannte Werte, keine Schätzungen.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QUALITÄT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Grenzen und Abdeckung offen benannt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19659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508760"/>
            <a:ext cx="16459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88 %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893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Formalien erkannt (Art des Punkts)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560320" y="1371600"/>
            <a:ext cx="19659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43200" y="1508760"/>
            <a:ext cx="16459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91 %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1989328"/>
            <a:ext cx="164592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Thema richtig, wo ein Thema vergeben ist (80 % über alle Titel)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19659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508760"/>
            <a:ext cx="16459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91 %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9893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Stand des Verfahrens richtig („Was geschieht“)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766560" y="1371600"/>
            <a:ext cx="19659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49440" y="1508760"/>
            <a:ext cx="1645920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90 %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1989328"/>
            <a:ext cx="1645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Schwelle für die Freigabe im Atlas und auf der Karte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7432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Frische Stichproben vom 14.10.26 an ungesehenen Berichten; Zahlen werden nach jeder Messung aktualisiert.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315468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246120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60120" y="3172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Regelbasiert statt Modell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960120" y="3429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Jede Regel liest nur Titel, Beschlussvorschlag und Unterlage. Ergebnisse sind nachvollziehbar und wiederholbar.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291840" y="315468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3246120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794760" y="3172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Stand sichtbar</a:t>
            </a:r>
            <a:endParaRPr lang="en-US" sz="1250" dirty="0"/>
          </a:p>
        </p:txBody>
      </p:sp>
      <p:sp>
        <p:nvSpPr>
          <p:cNvPr id="25" name="Text 20"/>
          <p:cNvSpPr txBox="1"/>
          <p:nvPr/>
        </p:nvSpPr>
        <p:spPr>
          <a:xfrm>
            <a:off x="3794760" y="3429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Datum und Uhrzeit über jeder Trefferliste, Quellenstand je Artikel, Abdeckung je Bundesland.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126480" y="315468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246120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629400" y="3172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Nur belegbare Zahlen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6629400" y="34290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accent3"/>
                </a:solidFill>
              </a:rPr>
              <a:t>Jede Zahl führt zu den Vorgängen und Originalquellen. Nicht gemessene Regeln bleiben gesperrt.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3840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chemeClr val="accent2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STUFEN</a:t>
            </a:r>
            <a:endParaRPr lang="en-US" sz="1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Einfache Preise, jederzeit kündbar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61772" y="1371600"/>
            <a:ext cx="1965960" cy="274320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4652" y="1554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Gast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4652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0 €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4652" y="21945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ohne Konto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4652" y="261518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" y="2560320"/>
            <a:ext cx="143560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Suche in allen Gebieten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4652" y="285902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9244" y="2804160"/>
            <a:ext cx="143560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10 Treffer je Suche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4652" y="310286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9244" y="3048000"/>
            <a:ext cx="143560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Direkt loslegen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546604" y="1371600"/>
            <a:ext cx="1965960" cy="274320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29484" y="1554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Basic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729484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Preis folgt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2729484" y="21945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mit Konto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29484" y="261518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894076" y="2560320"/>
            <a:ext cx="143560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Alle Treffer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29484" y="285902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894076" y="2804160"/>
            <a:ext cx="143560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Filter und Umkreis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2729484" y="310286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894076" y="3048000"/>
            <a:ext cx="143560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 gespeicherte Suche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29484" y="334670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894076" y="3291840"/>
            <a:ext cx="143560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 aktive Benachrichtigung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631436" y="1371600"/>
            <a:ext cx="1965960" cy="274320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814316" y="1554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Pro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814316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Preis folgt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4814316" y="21945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monatlich kündbar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814316" y="261518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978908" y="2560320"/>
            <a:ext cx="143560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Alle Treffer, Filter, Umkreis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814316" y="301142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978908" y="2956560"/>
            <a:ext cx="143560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100 gespeicherte Suchen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814316" y="340766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78908" y="3352800"/>
            <a:ext cx="143560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100 gespeicherte Artikel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814316" y="365150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978908" y="3596640"/>
            <a:ext cx="143560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100 Benachrichtigungen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716268" y="1371600"/>
            <a:ext cx="1965960" cy="274320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899148" y="15544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6899148" y="1828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Preis folgt</a:t>
            </a:r>
            <a:endParaRPr lang="en-US" sz="2000" dirty="0"/>
          </a:p>
        </p:txBody>
      </p:sp>
      <p:sp>
        <p:nvSpPr>
          <p:cNvPr id="42" name="Text 39"/>
          <p:cNvSpPr txBox="1"/>
          <p:nvPr/>
        </p:nvSpPr>
        <p:spPr>
          <a:xfrm>
            <a:off x="6899148" y="21945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für Teams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899148" y="261518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063740" y="2560320"/>
            <a:ext cx="143560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Alles aus Pro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899148" y="285902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063740" y="2804160"/>
            <a:ext cx="143560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Sitzungskalender mit Abo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899148" y="325526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063740" y="3200400"/>
            <a:ext cx="143560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plenara.X: alle Analysen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6899148" y="3499104"/>
            <a:ext cx="73152" cy="7315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063740" y="3444240"/>
            <a:ext cx="1435608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5 E-Mail-Empfänger je Alarm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Plenara in der Testphase: Stufen schalten wir derzeit auf Anfrage frei, die Preise folgen. Stand 15.10.26, plenara.de/preise.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60120"/>
            <a:ext cx="2926080" cy="108508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31520" y="228600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Besser verstehen,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>
                <a:solidFill>
                  <a:schemeClr val="bg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was vor Ort beraten wird.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IBM Plex Sans SmBld" pitchFamily="34" charset="0"/>
                <a:ea typeface="IBM Plex Sans SmBld" pitchFamily="34" charset="-122"/>
                <a:cs typeface="IBM Plex Sans SmBld" pitchFamily="34" charset="-120"/>
              </a:rPr>
              <a:t>www.plenara.de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731520" y="4069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Beschlüsse und Beratungen aus den offiziellen Ratsinformationssystemen der Kommunen. Maßgeblich sind stets die verlinkten Originalunterlagen.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enara">
  <a:themeElements>
    <a:clrScheme name="Plenara">
      <a:dk1>
        <a:srgbClr val="0F172A"/>
      </a:dk1>
      <a:lt1>
        <a:srgbClr val="FFFFFF"/>
      </a:lt1>
      <a:dk2>
        <a:srgbClr val="0B1220"/>
      </a:dk2>
      <a:lt2>
        <a:srgbClr val="F8FAFC"/>
      </a:lt2>
      <a:accent1>
        <a:srgbClr val="0D9488"/>
      </a:accent1>
      <a:accent2>
        <a:srgbClr val="0F766E"/>
      </a:accent2>
      <a:accent3>
        <a:srgbClr val="64748B"/>
      </a:accent3>
      <a:accent4>
        <a:srgbClr val="94A3B8"/>
      </a:accent4>
      <a:accent5>
        <a:srgbClr val="F0FDFA"/>
      </a:accent5>
      <a:accent6>
        <a:srgbClr val="E2E8F0"/>
      </a:accent6>
      <a:hlink>
        <a:srgbClr val="0F766E"/>
      </a:hlink>
      <a:folHlink>
        <a:srgbClr val="0F766E"/>
      </a:folHlink>
    </a:clrScheme>
    <a:fontScheme name="Office">
      <a:majorFont>
        <a:latin typeface="IBM Plex Sans SmB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plenara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Plenara Firmenpräsentation</dc:title>
  <dc:subject>Besser verstehen, was vor Ort beraten wird.</dc:subject>
  <dc:creator>plenara</dc:creator>
  <cp:lastModifiedBy>plenara</cp:lastModifiedBy>
  <cp:revision>1</cp:revision>
  <dcterms:created xsi:type="dcterms:W3CDTF">2026-10-16T16:12:52Z</dcterms:created>
  <dcterms:modified xsi:type="dcterms:W3CDTF">2026-10-16T16:12:52Z</dcterms:modified>
</cp:coreProperties>
</file>