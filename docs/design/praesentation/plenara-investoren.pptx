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vestoren" id="{81d1dcce-7a15-72d5-dada-773b6a3776aa}">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Plenara führt die Ratsinformationssysteme der Kommunen zu einem Portal zusammen: suchen, früh erfahren, verstehen.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Kommunale Entscheidungen sind öffentlich, aber auf über 8.000 Systeme verteilt. Wer Aufträge, Flächen oder Standorte sucht, erfährt davon zu spät und beobachtet von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Plenara: eine Suche über ganz Deutschland, Alarme per E-Mail, Analysen über alle Kommunen. Live auf plenara.de, Suche ohne Anmeldung.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Datenbestand steht: 8.076 Kommunen und Gebiete, 1,39 Millionen Berichte, 160.000 neue je Monat, Abruf alle 10 Minuten. Zahlen von der Startseite, Stand 15.10.26.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Windkraft: 1.108 Treffer über alle Kommunen, Zahlen je Gebiet auf der Karte, jeder Vorgang mit Verlauf durch die Gremien und Originalunterlage.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plenara.X macht aus dem Bestand Antworten: Signale (wo entsteht ein Auftrag), Fakten (was kostet es wo), Ausbreitung (wie schnell greift ein Thema um sich). Regelbasiert, gemessen, jede Zahl mit Quelle.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Erster Markt: Projektierer für Wind, Solar und Speicher, die früh wissen müssen, was Räte planen. Zahlungsbereitschaft ist bei vergleichbaren Ausschreibungsdiensten belegt (2.000 bis 6.000 Euro je Jahr). Danach Bau, Glasfaser, Verbände, Agenturen, Presse. Die kostenlose Suche bringt Reichweite.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Abo-Erlöse ohne Beratungsaufwand: Self-Service für Einzelnutzer und Teams, Enterprise mit plenara.X für Verbände und Agenturen, später ein Daten-Feed an Nicht-Wettbewerber. Preiskorridor aus der Strategie vom 02.10.26, als Plan gekennzeichnet.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Vier Dinge, die schwer zu kopieren sind: der vollständige Zulauf aus über 8.000 Systemen, Struktur statt Volltext, belegbare Zahlen mit offen gezeigter Abdeckung, ein Portal für Suche, Alarme und Analysen.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Warum jetzt: Energiewende und Wärmeplanung erzeugen in jeder Region Tausende Vorgänge; die Ratsinformationssysteme sind flächendeckend online; der Datenbestand von Plenara steht, der Vertrieb kann starten.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aus der Kommerzialisierungsstrategie (02.10.26): erst Fundament und Piloten bei Projektierern, dann Self-Service und zahlende Kunden, dann Daten-Feed und weitere Segmente.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und Gesprächseinladung.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UNKEL-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TRENNER-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LL">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4773168"/>
            <a:ext cx="542536" cy="182880"/>
          </a:xfrm>
          <a:prstGeom prst="rect">
            <a:avLst/>
          </a:prstGeom>
        </p:spPr>
      </p:pic>
      <p:sp>
        <p:nvSpPr>
          <p:cNvPr id="3" name="Text 0"/>
          <p:cNvSpPr/>
          <p:nvPr>
            <p:ph idx="101" type="body" hasCustomPrompt="1"/>
          </p:nvPr>
        </p:nvSpPr>
        <p:spPr>
          <a:xfrm>
            <a:off x="457200" y="384048"/>
            <a:ext cx="8229600" cy="228600"/>
          </a:xfrm>
          <a:prstGeom prst="rect">
            <a:avLst/>
          </a:prstGeom>
          <a:noFill/>
          <a:ln/>
        </p:spPr>
        <p:txBody>
          <a:bodyPr wrap="square" rtlCol="0"/>
          <a:lstStyle>
            <a:lvl1pPr indent="0" marL="0">
              <a:buNone/>
              <a:defRPr lang="en-US" sz="1000" spc="200" kern="0" dirty="0">
                <a:solidFill>
                  <a:schemeClr val="accent2"/>
                </a:solidFill>
                <a:latin typeface="IBM Plex Sans SmBld" pitchFamily="34" charset="0"/>
                <a:ea typeface="IBM Plex Sans SmBld" pitchFamily="34" charset="-122"/>
                <a:cs typeface="IBM Plex Sans SmBld" pitchFamily="34" charset="-120"/>
              </a:defRPr>
            </a:lvl1pPr>
          </a:lstStyle>
          <a:p>
            <a:pPr indent="0" marL="0">
              <a:buNone/>
            </a:pP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rtlCol="0"/>
          <a:lstStyle>
            <a:lvl1pPr indent="0" marL="0">
              <a:buNone/>
              <a:defRPr lang="en-US" sz="2400" dirty="0">
                <a:solidFill>
                  <a:schemeClr val="tx1"/>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UNKE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RENN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7680960" cy="731520"/>
          </a:xfrm>
          <a:prstGeom prst="rect">
            <a:avLst/>
          </a:prstGeom>
          <a:noFill/>
          <a:ln/>
        </p:spPr>
        <p:txBody>
          <a:bodyPr wrap="square" rtlCol="0"/>
          <a:lstStyle>
            <a:lvl1pPr indent="0" marL="0">
              <a:buNone/>
              <a:defRPr lang="en-US" sz="3600" dirty="0">
                <a:solidFill>
                  <a:schemeClr val="bg1"/>
                </a:solidFill>
              </a:defRPr>
            </a:lvl1pPr>
          </a:lstStyle>
          <a:p>
            <a:pPr indent="0" marL="0">
              <a:buNone/>
            </a:pPr>
            <a:endParaRPr lang="en-US" sz="3600" dirty="0"/>
          </a:p>
        </p:txBody>
      </p:sp>
      <p:sp>
        <p:nvSpPr>
          <p:cNvPr id="3" name="Text 0"/>
          <p:cNvSpPr/>
          <p:nvPr>
            <p:ph idx="101" type="body" hasCustomPrompt="1"/>
          </p:nvPr>
        </p:nvSpPr>
        <p:spPr>
          <a:xfrm>
            <a:off x="731520" y="2788920"/>
            <a:ext cx="7680960"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pic>
        <p:nvPicPr>
          <p:cNvPr id="4" name="Image 0" descr="preencoded.png">    </p:cNvPr>
          <p:cNvPicPr>
            <a:picLocks noChangeAspect="1"/>
          </p:cNvPicPr>
          <p:nvPr/>
        </p:nvPicPr>
        <p:blipFill>
          <a:blip r:embed="rId1"/>
          <a:stretch>
            <a:fillRect/>
          </a:stretch>
        </p:blipFill>
        <p:spPr>
          <a:xfrm>
            <a:off x="731520" y="4754880"/>
            <a:ext cx="542476" cy="2011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685800" y="960120"/>
            <a:ext cx="4023360" cy="1491996"/>
          </a:xfrm>
          <a:prstGeom prst="rect">
            <a:avLst/>
          </a:prstGeom>
        </p:spPr>
      </p:pic>
      <p:sp>
        <p:nvSpPr>
          <p:cNvPr id="4" name="Text 0"/>
          <p:cNvSpPr txBox="1"/>
          <p:nvPr/>
        </p:nvSpPr>
        <p:spPr>
          <a:xfrm>
            <a:off x="731520" y="2606040"/>
            <a:ext cx="7680960" cy="1188720"/>
          </a:xfrm>
          <a:prstGeom prst="rect">
            <a:avLst/>
          </a:prstGeom>
          <a:noFill/>
          <a:ln/>
        </p:spPr>
        <p:txBody>
          <a:bodyPr wrap="square" lIns="0" tIns="0" rIns="0" bIns="0" rtlCol="0" anchor="t"/>
          <a:lstStyle/>
          <a:p>
            <a:pPr algn="l" indent="0" marL="0">
              <a:buNone/>
            </a:pPr>
            <a:r>
              <a:rPr lang="en-US" sz="3200" dirty="0">
                <a:solidFill>
                  <a:schemeClr val="bg1"/>
                </a:solidFill>
                <a:latin typeface="IBM Plex Sans SmBld" pitchFamily="34" charset="0"/>
                <a:ea typeface="IBM Plex Sans SmBld" pitchFamily="34" charset="-122"/>
                <a:cs typeface="IBM Plex Sans SmBld" pitchFamily="34" charset="-120"/>
              </a:rPr>
              <a:t>Besser verstehen,</a:t>
            </a:r>
            <a:endParaRPr lang="en-US" sz="3200" dirty="0"/>
          </a:p>
          <a:p>
            <a:pPr algn="l" indent="0" marL="0">
              <a:buNone/>
            </a:pPr>
            <a:r>
              <a:rPr lang="en-US" sz="3200" dirty="0">
                <a:solidFill>
                  <a:schemeClr val="bg1"/>
                </a:solidFill>
                <a:latin typeface="IBM Plex Sans SmBld" pitchFamily="34" charset="0"/>
                <a:ea typeface="IBM Plex Sans SmBld" pitchFamily="34" charset="-122"/>
                <a:cs typeface="IBM Plex Sans SmBld" pitchFamily="34" charset="-120"/>
              </a:rPr>
              <a:t>was vor Ort beraten wird.</a:t>
            </a:r>
            <a:endParaRPr lang="en-US" sz="3200" dirty="0"/>
          </a:p>
        </p:txBody>
      </p:sp>
      <p:sp>
        <p:nvSpPr>
          <p:cNvPr id="5" name="Text 1"/>
          <p:cNvSpPr txBox="1"/>
          <p:nvPr/>
        </p:nvSpPr>
        <p:spPr>
          <a:xfrm>
            <a:off x="731520" y="4160520"/>
            <a:ext cx="7680960" cy="274320"/>
          </a:xfrm>
          <a:prstGeom prst="rect">
            <a:avLst/>
          </a:prstGeom>
          <a:noFill/>
          <a:ln/>
        </p:spPr>
        <p:txBody>
          <a:bodyPr wrap="square" lIns="0" tIns="0" rIns="0" bIns="0" rtlCol="0" anchor="t"/>
          <a:lstStyle/>
          <a:p>
            <a:pPr algn="l" indent="0" marL="0">
              <a:buNone/>
            </a:pPr>
            <a:r>
              <a:rPr lang="en-US" sz="1200" dirty="0">
                <a:solidFill>
                  <a:schemeClr val="accent4"/>
                </a:solidFill>
              </a:rPr>
              <a:t>Investorenpräsentation  ·  Oktober 2026  ·  www.plenara.de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DAS PROBLEM</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Öffentlich beschlossen, praktisch unsichtbar</a:t>
            </a:r>
            <a:endParaRPr lang="en-US" sz="2400" dirty="0"/>
          </a:p>
        </p:txBody>
      </p:sp>
      <p:sp>
        <p:nvSpPr>
          <p:cNvPr id="5" name="Shape 2"/>
          <p:cNvSpPr/>
          <p:nvPr/>
        </p:nvSpPr>
        <p:spPr>
          <a:xfrm>
            <a:off x="457200" y="1463040"/>
            <a:ext cx="457200" cy="457200"/>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571500" y="1577340"/>
            <a:ext cx="228600" cy="228600"/>
          </a:xfrm>
          <a:prstGeom prst="rect">
            <a:avLst/>
          </a:prstGeom>
        </p:spPr>
      </p:pic>
      <p:sp>
        <p:nvSpPr>
          <p:cNvPr id="7" name="Text 3"/>
          <p:cNvSpPr txBox="1"/>
          <p:nvPr/>
        </p:nvSpPr>
        <p:spPr>
          <a:xfrm>
            <a:off x="45720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8.000 Systeme</a:t>
            </a:r>
            <a:endParaRPr lang="en-US" sz="1600" dirty="0"/>
          </a:p>
        </p:txBody>
      </p:sp>
      <p:sp>
        <p:nvSpPr>
          <p:cNvPr id="8" name="Text 4"/>
          <p:cNvSpPr txBox="1"/>
          <p:nvPr/>
        </p:nvSpPr>
        <p:spPr>
          <a:xfrm>
            <a:off x="457200" y="2420112"/>
            <a:ext cx="2560320" cy="1950720"/>
          </a:xfrm>
          <a:prstGeom prst="rect">
            <a:avLst/>
          </a:prstGeom>
          <a:noFill/>
          <a:ln/>
        </p:spPr>
        <p:txBody>
          <a:bodyPr wrap="square" lIns="0" tIns="0" rIns="0" bIns="0" rtlCol="0" anchor="t"/>
          <a:lstStyle/>
          <a:p>
            <a:pPr algn="l" indent="0" marL="0">
              <a:buNone/>
            </a:pPr>
            <a:r>
              <a:rPr lang="en-US" sz="1200" dirty="0">
                <a:solidFill>
                  <a:schemeClr val="accent3"/>
                </a:solidFill>
              </a:rPr>
              <a:t>Jede Kommune veröffentlicht Beschlüsse in ihrem eigenen Ratsinformationssystem. Keines ist über Ortsgrenzen hinweg durchsuchbar.</a:t>
            </a:r>
            <a:endParaRPr lang="en-US" sz="1200" dirty="0"/>
          </a:p>
        </p:txBody>
      </p:sp>
      <p:sp>
        <p:nvSpPr>
          <p:cNvPr id="9" name="Shape 5"/>
          <p:cNvSpPr/>
          <p:nvPr/>
        </p:nvSpPr>
        <p:spPr>
          <a:xfrm>
            <a:off x="3291840" y="1463040"/>
            <a:ext cx="457200" cy="457200"/>
          </a:xfrm>
          <a:prstGeom prst="ellipse">
            <a:avLst/>
          </a:prstGeom>
          <a:solidFill>
            <a:schemeClr val="accent5"/>
          </a:solidFill>
          <a:ln w="12700">
            <a:solidFill>
              <a:schemeClr val="accent5"/>
            </a:solidFill>
            <a:prstDash val="solid"/>
          </a:ln>
        </p:spPr>
      </p:sp>
      <p:pic>
        <p:nvPicPr>
          <p:cNvPr id="10" name="Image 1" descr="preencoded.png">    </p:cNvPr>
          <p:cNvPicPr>
            <a:picLocks noChangeAspect="1"/>
          </p:cNvPicPr>
          <p:nvPr/>
        </p:nvPicPr>
        <p:blipFill>
          <a:blip r:embed="rId2"/>
          <a:stretch>
            <a:fillRect/>
          </a:stretch>
        </p:blipFill>
        <p:spPr>
          <a:xfrm>
            <a:off x="3406140" y="1577340"/>
            <a:ext cx="228600" cy="228600"/>
          </a:xfrm>
          <a:prstGeom prst="rect">
            <a:avLst/>
          </a:prstGeom>
        </p:spPr>
      </p:pic>
      <p:sp>
        <p:nvSpPr>
          <p:cNvPr id="11" name="Text 6"/>
          <p:cNvSpPr txBox="1"/>
          <p:nvPr/>
        </p:nvSpPr>
        <p:spPr>
          <a:xfrm>
            <a:off x="329184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Zu spät</a:t>
            </a:r>
            <a:endParaRPr lang="en-US" sz="1600" dirty="0"/>
          </a:p>
        </p:txBody>
      </p:sp>
      <p:sp>
        <p:nvSpPr>
          <p:cNvPr id="12" name="Text 7"/>
          <p:cNvSpPr txBox="1"/>
          <p:nvPr/>
        </p:nvSpPr>
        <p:spPr>
          <a:xfrm>
            <a:off x="3291840" y="2420112"/>
            <a:ext cx="2560320" cy="1950720"/>
          </a:xfrm>
          <a:prstGeom prst="rect">
            <a:avLst/>
          </a:prstGeom>
          <a:noFill/>
          <a:ln/>
        </p:spPr>
        <p:txBody>
          <a:bodyPr wrap="square" lIns="0" tIns="0" rIns="0" bIns="0" rtlCol="0" anchor="t"/>
          <a:lstStyle/>
          <a:p>
            <a:pPr algn="l" indent="0" marL="0">
              <a:buNone/>
            </a:pPr>
            <a:r>
              <a:rPr lang="en-US" sz="1200" dirty="0">
                <a:solidFill>
                  <a:schemeClr val="accent3"/>
                </a:solidFill>
              </a:rPr>
              <a:t>Wer Aufträge, Flächen oder Standorte sucht, liest davon im Amtsblatt oder in der Presse. Dann ist längst entschieden.</a:t>
            </a:r>
            <a:endParaRPr lang="en-US" sz="1200" dirty="0"/>
          </a:p>
        </p:txBody>
      </p:sp>
      <p:sp>
        <p:nvSpPr>
          <p:cNvPr id="13" name="Shape 8"/>
          <p:cNvSpPr/>
          <p:nvPr/>
        </p:nvSpPr>
        <p:spPr>
          <a:xfrm>
            <a:off x="6126480" y="1463040"/>
            <a:ext cx="457200" cy="457200"/>
          </a:xfrm>
          <a:prstGeom prst="ellipse">
            <a:avLst/>
          </a:prstGeom>
          <a:solidFill>
            <a:schemeClr val="accent5"/>
          </a:solidFill>
          <a:ln w="12700">
            <a:solidFill>
              <a:schemeClr val="accent5"/>
            </a:solidFill>
            <a:prstDash val="solid"/>
          </a:ln>
        </p:spPr>
      </p:sp>
      <p:pic>
        <p:nvPicPr>
          <p:cNvPr id="14" name="Image 2" descr="preencoded.png">    </p:cNvPr>
          <p:cNvPicPr>
            <a:picLocks noChangeAspect="1"/>
          </p:cNvPicPr>
          <p:nvPr/>
        </p:nvPicPr>
        <p:blipFill>
          <a:blip r:embed="rId3"/>
          <a:stretch>
            <a:fillRect/>
          </a:stretch>
        </p:blipFill>
        <p:spPr>
          <a:xfrm>
            <a:off x="6240780" y="1577340"/>
            <a:ext cx="228600" cy="228600"/>
          </a:xfrm>
          <a:prstGeom prst="rect">
            <a:avLst/>
          </a:prstGeom>
        </p:spPr>
      </p:pic>
      <p:sp>
        <p:nvSpPr>
          <p:cNvPr id="15" name="Text 9"/>
          <p:cNvSpPr txBox="1"/>
          <p:nvPr/>
        </p:nvSpPr>
        <p:spPr>
          <a:xfrm>
            <a:off x="612648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Von Hand</a:t>
            </a:r>
            <a:endParaRPr lang="en-US" sz="1600" dirty="0"/>
          </a:p>
        </p:txBody>
      </p:sp>
      <p:sp>
        <p:nvSpPr>
          <p:cNvPr id="16" name="Text 10"/>
          <p:cNvSpPr txBox="1"/>
          <p:nvPr/>
        </p:nvSpPr>
        <p:spPr>
          <a:xfrm>
            <a:off x="6126480" y="2420112"/>
            <a:ext cx="2560320" cy="1950720"/>
          </a:xfrm>
          <a:prstGeom prst="rect">
            <a:avLst/>
          </a:prstGeom>
          <a:noFill/>
          <a:ln/>
        </p:spPr>
        <p:txBody>
          <a:bodyPr wrap="square" lIns="0" tIns="0" rIns="0" bIns="0" rtlCol="0" anchor="t"/>
          <a:lstStyle/>
          <a:p>
            <a:pPr algn="l" indent="0" marL="0">
              <a:buNone/>
            </a:pPr>
            <a:r>
              <a:rPr lang="en-US" sz="1200" dirty="0">
                <a:solidFill>
                  <a:schemeClr val="accent3"/>
                </a:solidFill>
              </a:rPr>
              <a:t>Teams beobachten 10 bis 20 Kommunen. Der entscheidende Vorgang kommt aus einer, die nicht auf der Liste steht.</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DIE LÖSUNG</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Ein Portal für alles, was vor Ort beraten wird</a:t>
            </a:r>
            <a:endParaRPr lang="en-US" sz="2400" dirty="0"/>
          </a:p>
        </p:txBody>
      </p:sp>
      <p:sp>
        <p:nvSpPr>
          <p:cNvPr id="5" name="Shape 2"/>
          <p:cNvSpPr/>
          <p:nvPr/>
        </p:nvSpPr>
        <p:spPr>
          <a:xfrm>
            <a:off x="457200" y="1463040"/>
            <a:ext cx="457200" cy="457200"/>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571500" y="1577340"/>
            <a:ext cx="228600" cy="228600"/>
          </a:xfrm>
          <a:prstGeom prst="rect">
            <a:avLst/>
          </a:prstGeom>
        </p:spPr>
      </p:pic>
      <p:sp>
        <p:nvSpPr>
          <p:cNvPr id="7" name="Text 3"/>
          <p:cNvSpPr txBox="1"/>
          <p:nvPr/>
        </p:nvSpPr>
        <p:spPr>
          <a:xfrm>
            <a:off x="1051560" y="1444752"/>
            <a:ext cx="2743200" cy="29260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Suchen</a:t>
            </a:r>
            <a:endParaRPr lang="en-US" sz="1600" dirty="0"/>
          </a:p>
        </p:txBody>
      </p:sp>
      <p:sp>
        <p:nvSpPr>
          <p:cNvPr id="8" name="Text 4"/>
          <p:cNvSpPr txBox="1"/>
          <p:nvPr/>
        </p:nvSpPr>
        <p:spPr>
          <a:xfrm>
            <a:off x="1051560" y="1755648"/>
            <a:ext cx="2743200" cy="384048"/>
          </a:xfrm>
          <a:prstGeom prst="rect">
            <a:avLst/>
          </a:prstGeom>
          <a:noFill/>
          <a:ln/>
        </p:spPr>
        <p:txBody>
          <a:bodyPr wrap="square" lIns="0" tIns="0" rIns="0" bIns="0" rtlCol="0" anchor="t"/>
          <a:lstStyle/>
          <a:p>
            <a:pPr algn="l" indent="0" marL="0">
              <a:buNone/>
            </a:pPr>
            <a:r>
              <a:rPr lang="en-US" sz="1200" dirty="0">
                <a:solidFill>
                  <a:schemeClr val="accent3"/>
                </a:solidFill>
              </a:rPr>
              <a:t>Ein Begriff, ganz Deutschland, jeder Treffer mit Stand und Originalquelle.</a:t>
            </a:r>
            <a:endParaRPr lang="en-US" sz="1200" dirty="0"/>
          </a:p>
        </p:txBody>
      </p:sp>
      <p:sp>
        <p:nvSpPr>
          <p:cNvPr id="9" name="Shape 5"/>
          <p:cNvSpPr/>
          <p:nvPr/>
        </p:nvSpPr>
        <p:spPr>
          <a:xfrm>
            <a:off x="457200" y="2505456"/>
            <a:ext cx="457200" cy="457200"/>
          </a:xfrm>
          <a:prstGeom prst="ellipse">
            <a:avLst/>
          </a:prstGeom>
          <a:solidFill>
            <a:schemeClr val="accent5"/>
          </a:solidFill>
          <a:ln w="12700">
            <a:solidFill>
              <a:schemeClr val="accent5"/>
            </a:solidFill>
            <a:prstDash val="solid"/>
          </a:ln>
        </p:spPr>
      </p:sp>
      <p:pic>
        <p:nvPicPr>
          <p:cNvPr id="10" name="Image 1" descr="preencoded.png">    </p:cNvPr>
          <p:cNvPicPr>
            <a:picLocks noChangeAspect="1"/>
          </p:cNvPicPr>
          <p:nvPr/>
        </p:nvPicPr>
        <p:blipFill>
          <a:blip r:embed="rId2"/>
          <a:stretch>
            <a:fillRect/>
          </a:stretch>
        </p:blipFill>
        <p:spPr>
          <a:xfrm>
            <a:off x="571500" y="2619756"/>
            <a:ext cx="228600" cy="228600"/>
          </a:xfrm>
          <a:prstGeom prst="rect">
            <a:avLst/>
          </a:prstGeom>
        </p:spPr>
      </p:pic>
      <p:sp>
        <p:nvSpPr>
          <p:cNvPr id="11" name="Text 6"/>
          <p:cNvSpPr txBox="1"/>
          <p:nvPr/>
        </p:nvSpPr>
        <p:spPr>
          <a:xfrm>
            <a:off x="1051560" y="2487168"/>
            <a:ext cx="2743200" cy="29260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Früh erfahren</a:t>
            </a:r>
            <a:endParaRPr lang="en-US" sz="1600" dirty="0"/>
          </a:p>
        </p:txBody>
      </p:sp>
      <p:sp>
        <p:nvSpPr>
          <p:cNvPr id="12" name="Text 7"/>
          <p:cNvSpPr txBox="1"/>
          <p:nvPr/>
        </p:nvSpPr>
        <p:spPr>
          <a:xfrm>
            <a:off x="1051560" y="2798064"/>
            <a:ext cx="2743200" cy="384048"/>
          </a:xfrm>
          <a:prstGeom prst="rect">
            <a:avLst/>
          </a:prstGeom>
          <a:noFill/>
          <a:ln/>
        </p:spPr>
        <p:txBody>
          <a:bodyPr wrap="square" lIns="0" tIns="0" rIns="0" bIns="0" rtlCol="0" anchor="t"/>
          <a:lstStyle/>
          <a:p>
            <a:pPr algn="l" indent="0" marL="0">
              <a:buNone/>
            </a:pPr>
            <a:r>
              <a:rPr lang="en-US" sz="1200" dirty="0">
                <a:solidFill>
                  <a:schemeClr val="accent3"/>
                </a:solidFill>
              </a:rPr>
              <a:t>Alarme per E-Mail, sobald ein Thema auf eine Tagesordnung kommt.</a:t>
            </a:r>
            <a:endParaRPr lang="en-US" sz="1200" dirty="0"/>
          </a:p>
        </p:txBody>
      </p:sp>
      <p:sp>
        <p:nvSpPr>
          <p:cNvPr id="13" name="Shape 8"/>
          <p:cNvSpPr/>
          <p:nvPr/>
        </p:nvSpPr>
        <p:spPr>
          <a:xfrm>
            <a:off x="457200" y="3547872"/>
            <a:ext cx="457200" cy="457200"/>
          </a:xfrm>
          <a:prstGeom prst="ellipse">
            <a:avLst/>
          </a:prstGeom>
          <a:solidFill>
            <a:schemeClr val="accent5"/>
          </a:solidFill>
          <a:ln w="12700">
            <a:solidFill>
              <a:schemeClr val="accent5"/>
            </a:solidFill>
            <a:prstDash val="solid"/>
          </a:ln>
        </p:spPr>
      </p:sp>
      <p:pic>
        <p:nvPicPr>
          <p:cNvPr id="14" name="Image 2" descr="preencoded.png">    </p:cNvPr>
          <p:cNvPicPr>
            <a:picLocks noChangeAspect="1"/>
          </p:cNvPicPr>
          <p:nvPr/>
        </p:nvPicPr>
        <p:blipFill>
          <a:blip r:embed="rId3"/>
          <a:stretch>
            <a:fillRect/>
          </a:stretch>
        </p:blipFill>
        <p:spPr>
          <a:xfrm>
            <a:off x="571500" y="3662172"/>
            <a:ext cx="228600" cy="228600"/>
          </a:xfrm>
          <a:prstGeom prst="rect">
            <a:avLst/>
          </a:prstGeom>
        </p:spPr>
      </p:pic>
      <p:sp>
        <p:nvSpPr>
          <p:cNvPr id="15" name="Text 9"/>
          <p:cNvSpPr txBox="1"/>
          <p:nvPr/>
        </p:nvSpPr>
        <p:spPr>
          <a:xfrm>
            <a:off x="1051560" y="3529584"/>
            <a:ext cx="2743200" cy="29260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Verstehen</a:t>
            </a:r>
            <a:endParaRPr lang="en-US" sz="1600" dirty="0"/>
          </a:p>
        </p:txBody>
      </p:sp>
      <p:sp>
        <p:nvSpPr>
          <p:cNvPr id="16" name="Text 10"/>
          <p:cNvSpPr txBox="1"/>
          <p:nvPr/>
        </p:nvSpPr>
        <p:spPr>
          <a:xfrm>
            <a:off x="1051560" y="3840480"/>
            <a:ext cx="2743200" cy="384048"/>
          </a:xfrm>
          <a:prstGeom prst="rect">
            <a:avLst/>
          </a:prstGeom>
          <a:noFill/>
          <a:ln/>
        </p:spPr>
        <p:txBody>
          <a:bodyPr wrap="square" lIns="0" tIns="0" rIns="0" bIns="0" rtlCol="0" anchor="t"/>
          <a:lstStyle/>
          <a:p>
            <a:pPr algn="l" indent="0" marL="0">
              <a:buNone/>
            </a:pPr>
            <a:r>
              <a:rPr lang="en-US" sz="1200" dirty="0">
                <a:solidFill>
                  <a:schemeClr val="accent3"/>
                </a:solidFill>
              </a:rPr>
              <a:t>plenara.X zählt Vorgänge über alle Kommunen: Signale, Fakten, Trends.</a:t>
            </a:r>
            <a:endParaRPr lang="en-US" sz="1200" dirty="0"/>
          </a:p>
        </p:txBody>
      </p:sp>
      <p:sp>
        <p:nvSpPr>
          <p:cNvPr id="17" name="Shape 11"/>
          <p:cNvSpPr/>
          <p:nvPr/>
        </p:nvSpPr>
        <p:spPr>
          <a:xfrm>
            <a:off x="4443984" y="1335024"/>
            <a:ext cx="2673477" cy="3273552"/>
          </a:xfrm>
          <a:prstGeom prst="roundRect">
            <a:avLst>
              <a:gd name="adj" fmla="val 2052"/>
            </a:avLst>
          </a:prstGeom>
          <a:solidFill>
            <a:schemeClr val="bg1"/>
          </a:solidFill>
          <a:ln w="9525">
            <a:solidFill>
              <a:srgbClr val="E8EDF2"/>
            </a:solidFill>
            <a:prstDash val="solid"/>
          </a:ln>
          <a:effectLst>
            <a:outerShdw sx="100000" sy="100000" kx="0" ky="0" algn="bl" rotWithShape="0" blurRad="127000" dist="38100" dir="5400000">
              <a:srgbClr val="0F172A">
                <a:alpha val="10000"/>
              </a:srgbClr>
            </a:outerShdw>
          </a:effectLst>
        </p:spPr>
      </p:sp>
      <p:pic>
        <p:nvPicPr>
          <p:cNvPr id="18" name="Image 3" descr="preencoded.png">    </p:cNvPr>
          <p:cNvPicPr>
            <a:picLocks noChangeAspect="1"/>
          </p:cNvPicPr>
          <p:nvPr/>
        </p:nvPicPr>
        <p:blipFill>
          <a:blip r:embed="rId4"/>
          <a:stretch>
            <a:fillRect/>
          </a:stretch>
        </p:blipFill>
        <p:spPr>
          <a:xfrm>
            <a:off x="4480560" y="1371600"/>
            <a:ext cx="2600325" cy="3200400"/>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STAND HEUTE</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Live mit 8.076 Kommunen und Gebieten</a:t>
            </a:r>
            <a:endParaRPr lang="en-US" sz="2400" dirty="0"/>
          </a:p>
        </p:txBody>
      </p:sp>
      <p:sp>
        <p:nvSpPr>
          <p:cNvPr id="5" name="Shape 2"/>
          <p:cNvSpPr/>
          <p:nvPr/>
        </p:nvSpPr>
        <p:spPr>
          <a:xfrm>
            <a:off x="457200" y="1463040"/>
            <a:ext cx="1965960" cy="1554480"/>
          </a:xfrm>
          <a:prstGeom prst="roundRect">
            <a:avLst>
              <a:gd name="adj" fmla="val 5882"/>
            </a:avLst>
          </a:prstGeom>
          <a:solidFill>
            <a:schemeClr val="bg2"/>
          </a:solidFill>
          <a:ln w="9525">
            <a:solidFill>
              <a:schemeClr val="accent6"/>
            </a:solidFill>
            <a:prstDash val="solid"/>
          </a:ln>
        </p:spPr>
      </p:sp>
      <p:sp>
        <p:nvSpPr>
          <p:cNvPr id="6" name="Text 3"/>
          <p:cNvSpPr txBox="1"/>
          <p:nvPr/>
        </p:nvSpPr>
        <p:spPr>
          <a:xfrm>
            <a:off x="640080" y="1645920"/>
            <a:ext cx="1645920" cy="4953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SmBld" pitchFamily="34" charset="0"/>
                <a:ea typeface="IBM Plex Sans SmBld" pitchFamily="34" charset="-122"/>
                <a:cs typeface="IBM Plex Sans SmBld" pitchFamily="34" charset="-120"/>
              </a:rPr>
              <a:t>8.076</a:t>
            </a:r>
            <a:endParaRPr lang="en-US" sz="3000" dirty="0"/>
          </a:p>
        </p:txBody>
      </p:sp>
      <p:sp>
        <p:nvSpPr>
          <p:cNvPr id="7" name="Text 4"/>
          <p:cNvSpPr txBox="1"/>
          <p:nvPr/>
        </p:nvSpPr>
        <p:spPr>
          <a:xfrm>
            <a:off x="640080" y="2159508"/>
            <a:ext cx="1645920" cy="353568"/>
          </a:xfrm>
          <a:prstGeom prst="rect">
            <a:avLst/>
          </a:prstGeom>
          <a:noFill/>
          <a:ln/>
        </p:spPr>
        <p:txBody>
          <a:bodyPr wrap="square" lIns="0" tIns="0" rIns="0" bIns="0" rtlCol="0" anchor="t"/>
          <a:lstStyle/>
          <a:p>
            <a:pPr algn="l" indent="0" marL="0">
              <a:buNone/>
            </a:pPr>
            <a:r>
              <a:rPr lang="en-US" sz="1100" dirty="0">
                <a:solidFill>
                  <a:schemeClr val="accent3"/>
                </a:solidFill>
              </a:rPr>
              <a:t>Kommunen und Gebiete angebunden</a:t>
            </a:r>
            <a:endParaRPr lang="en-US" sz="1100" dirty="0"/>
          </a:p>
        </p:txBody>
      </p:sp>
      <p:sp>
        <p:nvSpPr>
          <p:cNvPr id="8" name="Shape 5"/>
          <p:cNvSpPr/>
          <p:nvPr/>
        </p:nvSpPr>
        <p:spPr>
          <a:xfrm>
            <a:off x="2560320" y="1463040"/>
            <a:ext cx="1965960" cy="1554480"/>
          </a:xfrm>
          <a:prstGeom prst="roundRect">
            <a:avLst>
              <a:gd name="adj" fmla="val 5882"/>
            </a:avLst>
          </a:prstGeom>
          <a:solidFill>
            <a:schemeClr val="bg2"/>
          </a:solidFill>
          <a:ln w="9525">
            <a:solidFill>
              <a:schemeClr val="accent6"/>
            </a:solidFill>
            <a:prstDash val="solid"/>
          </a:ln>
        </p:spPr>
      </p:sp>
      <p:sp>
        <p:nvSpPr>
          <p:cNvPr id="9" name="Text 6"/>
          <p:cNvSpPr txBox="1"/>
          <p:nvPr/>
        </p:nvSpPr>
        <p:spPr>
          <a:xfrm>
            <a:off x="2743200" y="1645920"/>
            <a:ext cx="1645920" cy="4953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SmBld" pitchFamily="34" charset="0"/>
                <a:ea typeface="IBM Plex Sans SmBld" pitchFamily="34" charset="-122"/>
                <a:cs typeface="IBM Plex Sans SmBld" pitchFamily="34" charset="-120"/>
              </a:rPr>
              <a:t>1,39 Mio.</a:t>
            </a:r>
            <a:endParaRPr lang="en-US" sz="3000" dirty="0"/>
          </a:p>
        </p:txBody>
      </p:sp>
      <p:sp>
        <p:nvSpPr>
          <p:cNvPr id="10" name="Text 7"/>
          <p:cNvSpPr txBox="1"/>
          <p:nvPr/>
        </p:nvSpPr>
        <p:spPr>
          <a:xfrm>
            <a:off x="2743200" y="2159508"/>
            <a:ext cx="1645920" cy="353568"/>
          </a:xfrm>
          <a:prstGeom prst="rect">
            <a:avLst/>
          </a:prstGeom>
          <a:noFill/>
          <a:ln/>
        </p:spPr>
        <p:txBody>
          <a:bodyPr wrap="square" lIns="0" tIns="0" rIns="0" bIns="0" rtlCol="0" anchor="t"/>
          <a:lstStyle/>
          <a:p>
            <a:pPr algn="l" indent="0" marL="0">
              <a:buNone/>
            </a:pPr>
            <a:r>
              <a:rPr lang="en-US" sz="1100" dirty="0">
                <a:solidFill>
                  <a:schemeClr val="accent3"/>
                </a:solidFill>
              </a:rPr>
              <a:t>Berichte aus Räten und Ausschüssen</a:t>
            </a:r>
            <a:endParaRPr lang="en-US" sz="1100" dirty="0"/>
          </a:p>
        </p:txBody>
      </p:sp>
      <p:sp>
        <p:nvSpPr>
          <p:cNvPr id="11" name="Shape 8"/>
          <p:cNvSpPr/>
          <p:nvPr/>
        </p:nvSpPr>
        <p:spPr>
          <a:xfrm>
            <a:off x="4663440" y="1463040"/>
            <a:ext cx="1965960" cy="1554480"/>
          </a:xfrm>
          <a:prstGeom prst="roundRect">
            <a:avLst>
              <a:gd name="adj" fmla="val 5882"/>
            </a:avLst>
          </a:prstGeom>
          <a:solidFill>
            <a:schemeClr val="bg2"/>
          </a:solidFill>
          <a:ln w="9525">
            <a:solidFill>
              <a:schemeClr val="accent6"/>
            </a:solidFill>
            <a:prstDash val="solid"/>
          </a:ln>
        </p:spPr>
      </p:sp>
      <p:sp>
        <p:nvSpPr>
          <p:cNvPr id="12" name="Text 9"/>
          <p:cNvSpPr txBox="1"/>
          <p:nvPr/>
        </p:nvSpPr>
        <p:spPr>
          <a:xfrm>
            <a:off x="4846320" y="1645920"/>
            <a:ext cx="1645920" cy="4953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SmBld" pitchFamily="34" charset="0"/>
                <a:ea typeface="IBM Plex Sans SmBld" pitchFamily="34" charset="-122"/>
                <a:cs typeface="IBM Plex Sans SmBld" pitchFamily="34" charset="-120"/>
              </a:rPr>
              <a:t>160.000</a:t>
            </a:r>
            <a:endParaRPr lang="en-US" sz="3000" dirty="0"/>
          </a:p>
        </p:txBody>
      </p:sp>
      <p:sp>
        <p:nvSpPr>
          <p:cNvPr id="13" name="Text 10"/>
          <p:cNvSpPr txBox="1"/>
          <p:nvPr/>
        </p:nvSpPr>
        <p:spPr>
          <a:xfrm>
            <a:off x="4846320" y="2159508"/>
            <a:ext cx="1645920" cy="353568"/>
          </a:xfrm>
          <a:prstGeom prst="rect">
            <a:avLst/>
          </a:prstGeom>
          <a:noFill/>
          <a:ln/>
        </p:spPr>
        <p:txBody>
          <a:bodyPr wrap="square" lIns="0" tIns="0" rIns="0" bIns="0" rtlCol="0" anchor="t"/>
          <a:lstStyle/>
          <a:p>
            <a:pPr algn="l" indent="0" marL="0">
              <a:buNone/>
            </a:pPr>
            <a:r>
              <a:rPr lang="en-US" sz="1100" dirty="0">
                <a:solidFill>
                  <a:schemeClr val="accent3"/>
                </a:solidFill>
              </a:rPr>
              <a:t>neue Berichte in den letzten 30 Tagen</a:t>
            </a:r>
            <a:endParaRPr lang="en-US" sz="1100" dirty="0"/>
          </a:p>
        </p:txBody>
      </p:sp>
      <p:sp>
        <p:nvSpPr>
          <p:cNvPr id="14" name="Shape 11"/>
          <p:cNvSpPr/>
          <p:nvPr/>
        </p:nvSpPr>
        <p:spPr>
          <a:xfrm>
            <a:off x="6766560" y="1463040"/>
            <a:ext cx="1965960" cy="1554480"/>
          </a:xfrm>
          <a:prstGeom prst="roundRect">
            <a:avLst>
              <a:gd name="adj" fmla="val 5882"/>
            </a:avLst>
          </a:prstGeom>
          <a:solidFill>
            <a:schemeClr val="bg2"/>
          </a:solidFill>
          <a:ln w="9525">
            <a:solidFill>
              <a:schemeClr val="accent6"/>
            </a:solidFill>
            <a:prstDash val="solid"/>
          </a:ln>
        </p:spPr>
      </p:sp>
      <p:sp>
        <p:nvSpPr>
          <p:cNvPr id="15" name="Text 12"/>
          <p:cNvSpPr txBox="1"/>
          <p:nvPr/>
        </p:nvSpPr>
        <p:spPr>
          <a:xfrm>
            <a:off x="6949440" y="1645920"/>
            <a:ext cx="1645920" cy="4953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SmBld" pitchFamily="34" charset="0"/>
                <a:ea typeface="IBM Plex Sans SmBld" pitchFamily="34" charset="-122"/>
                <a:cs typeface="IBM Plex Sans SmBld" pitchFamily="34" charset="-120"/>
              </a:rPr>
              <a:t>10 Min.</a:t>
            </a:r>
            <a:endParaRPr lang="en-US" sz="3000" dirty="0"/>
          </a:p>
        </p:txBody>
      </p:sp>
      <p:sp>
        <p:nvSpPr>
          <p:cNvPr id="16" name="Text 13"/>
          <p:cNvSpPr txBox="1"/>
          <p:nvPr/>
        </p:nvSpPr>
        <p:spPr>
          <a:xfrm>
            <a:off x="6949440" y="2159508"/>
            <a:ext cx="1645920" cy="353568"/>
          </a:xfrm>
          <a:prstGeom prst="rect">
            <a:avLst/>
          </a:prstGeom>
          <a:noFill/>
          <a:ln/>
        </p:spPr>
        <p:txBody>
          <a:bodyPr wrap="square" lIns="0" tIns="0" rIns="0" bIns="0" rtlCol="0" anchor="t"/>
          <a:lstStyle/>
          <a:p>
            <a:pPr algn="l" indent="0" marL="0">
              <a:buNone/>
            </a:pPr>
            <a:r>
              <a:rPr lang="en-US" sz="1100" dirty="0">
                <a:solidFill>
                  <a:schemeClr val="accent3"/>
                </a:solidFill>
              </a:rPr>
              <a:t>Abstand zwischen zwei Abrufen</a:t>
            </a:r>
            <a:endParaRPr lang="en-US" sz="1100" dirty="0"/>
          </a:p>
        </p:txBody>
      </p:sp>
      <p:sp>
        <p:nvSpPr>
          <p:cNvPr id="17" name="Text 14"/>
          <p:cNvSpPr txBox="1"/>
          <p:nvPr/>
        </p:nvSpPr>
        <p:spPr>
          <a:xfrm>
            <a:off x="457200" y="3291840"/>
            <a:ext cx="8229600" cy="822960"/>
          </a:xfrm>
          <a:prstGeom prst="rect">
            <a:avLst/>
          </a:prstGeom>
          <a:noFill/>
          <a:ln/>
        </p:spPr>
        <p:txBody>
          <a:bodyPr wrap="square" lIns="0" tIns="0" rIns="0" bIns="0" rtlCol="0" anchor="t"/>
          <a:lstStyle/>
          <a:p>
            <a:pPr algn="l" indent="0" marL="0">
              <a:buNone/>
            </a:pPr>
            <a:r>
              <a:rPr lang="en-US" sz="1300" dirty="0">
                <a:solidFill>
                  <a:schemeClr val="tx1"/>
                </a:solidFill>
              </a:rPr>
              <a:t>Von Berichten zu Antworten: Jeder Vorgang wird eingeordnet (Thema, Stand, Werte aus den Unterlagen) und führt zur Originalquelle. Suche und Karte sind ohne Anmeldung nutzbar; Konten, Alarme und plenara.X laufen in der Testphase.</a:t>
            </a:r>
            <a:endParaRPr lang="en-US" sz="1300" dirty="0"/>
          </a:p>
        </p:txBody>
      </p:sp>
      <p:sp>
        <p:nvSpPr>
          <p:cNvPr id="18" name="Text 15"/>
          <p:cNvSpPr txBox="1"/>
          <p:nvPr/>
        </p:nvSpPr>
        <p:spPr>
          <a:xfrm>
            <a:off x="457200" y="4297680"/>
            <a:ext cx="8229600" cy="228600"/>
          </a:xfrm>
          <a:prstGeom prst="rect">
            <a:avLst/>
          </a:prstGeom>
          <a:noFill/>
          <a:ln/>
        </p:spPr>
        <p:txBody>
          <a:bodyPr wrap="square" lIns="0" tIns="0" rIns="0" bIns="0" rtlCol="0" anchor="t"/>
          <a:lstStyle/>
          <a:p>
            <a:pPr algn="l" indent="0" marL="0">
              <a:buNone/>
            </a:pPr>
            <a:r>
              <a:rPr lang="en-US" sz="950" dirty="0">
                <a:solidFill>
                  <a:schemeClr val="accent4"/>
                </a:solidFill>
              </a:rPr>
              <a:t>Stand 15.10.26, plenara.de</a:t>
            </a:r>
            <a:endParaRPr lang="en-US" sz="9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DAS PRODUKT</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Vom Treffer zur Originalquelle in zwei Klicks</a:t>
            </a:r>
            <a:endParaRPr lang="en-US" sz="2400" dirty="0"/>
          </a:p>
        </p:txBody>
      </p:sp>
      <p:sp>
        <p:nvSpPr>
          <p:cNvPr id="5" name="Shape 2"/>
          <p:cNvSpPr/>
          <p:nvPr/>
        </p:nvSpPr>
        <p:spPr>
          <a:xfrm>
            <a:off x="420624" y="1380744"/>
            <a:ext cx="4422189" cy="2907792"/>
          </a:xfrm>
          <a:prstGeom prst="roundRect">
            <a:avLst>
              <a:gd name="adj" fmla="val 1887"/>
            </a:avLst>
          </a:prstGeom>
          <a:solidFill>
            <a:schemeClr val="bg1"/>
          </a:solidFill>
          <a:ln w="9525">
            <a:solidFill>
              <a:srgbClr val="E8EDF2"/>
            </a:solidFill>
            <a:prstDash val="solid"/>
          </a:ln>
          <a:effectLst>
            <a:outerShdw sx="100000" sy="100000" kx="0" ky="0" algn="bl" rotWithShape="0" blurRad="127000" dist="38100" dir="5400000">
              <a:srgbClr val="0F172A">
                <a:alpha val="10000"/>
              </a:srgbClr>
            </a:outerShdw>
          </a:effectLst>
        </p:spPr>
      </p:sp>
      <p:pic>
        <p:nvPicPr>
          <p:cNvPr id="6" name="Image 0" descr="preencoded.png">    </p:cNvPr>
          <p:cNvPicPr>
            <a:picLocks noChangeAspect="1"/>
          </p:cNvPicPr>
          <p:nvPr/>
        </p:nvPicPr>
        <p:blipFill>
          <a:blip r:embed="rId1"/>
          <a:stretch>
            <a:fillRect/>
          </a:stretch>
        </p:blipFill>
        <p:spPr>
          <a:xfrm>
            <a:off x="457200" y="1417320"/>
            <a:ext cx="4349037" cy="2834640"/>
          </a:xfrm>
          <a:prstGeom prst="rect">
            <a:avLst/>
          </a:prstGeom>
        </p:spPr>
      </p:pic>
      <p:sp>
        <p:nvSpPr>
          <p:cNvPr id="7" name="Shape 3"/>
          <p:cNvSpPr/>
          <p:nvPr/>
        </p:nvSpPr>
        <p:spPr>
          <a:xfrm>
            <a:off x="5129784" y="1380744"/>
            <a:ext cx="3593592" cy="2077847"/>
          </a:xfrm>
          <a:prstGeom prst="roundRect">
            <a:avLst>
              <a:gd name="adj" fmla="val 2640"/>
            </a:avLst>
          </a:prstGeom>
          <a:solidFill>
            <a:schemeClr val="bg1"/>
          </a:solidFill>
          <a:ln w="9525">
            <a:solidFill>
              <a:srgbClr val="E8EDF2"/>
            </a:solidFill>
            <a:prstDash val="solid"/>
          </a:ln>
          <a:effectLst>
            <a:outerShdw sx="100000" sy="100000" kx="0" ky="0" algn="bl" rotWithShape="0" blurRad="127000" dist="38100" dir="5400000">
              <a:srgbClr val="0F172A">
                <a:alpha val="10000"/>
              </a:srgbClr>
            </a:outerShdw>
          </a:effectLst>
        </p:spPr>
      </p:sp>
      <p:pic>
        <p:nvPicPr>
          <p:cNvPr id="8" name="Image 1" descr="preencoded.png">    </p:cNvPr>
          <p:cNvPicPr>
            <a:picLocks noChangeAspect="1"/>
          </p:cNvPicPr>
          <p:nvPr/>
        </p:nvPicPr>
        <p:blipFill>
          <a:blip r:embed="rId2"/>
          <a:stretch>
            <a:fillRect/>
          </a:stretch>
        </p:blipFill>
        <p:spPr>
          <a:xfrm>
            <a:off x="5166360" y="1417320"/>
            <a:ext cx="3520440" cy="2004695"/>
          </a:xfrm>
          <a:prstGeom prst="rect">
            <a:avLst/>
          </a:prstGeom>
        </p:spPr>
      </p:pic>
      <p:sp>
        <p:nvSpPr>
          <p:cNvPr id="9" name="Text 4"/>
          <p:cNvSpPr txBox="1"/>
          <p:nvPr/>
        </p:nvSpPr>
        <p:spPr>
          <a:xfrm>
            <a:off x="457200" y="4297680"/>
            <a:ext cx="4480560" cy="274320"/>
          </a:xfrm>
          <a:prstGeom prst="rect">
            <a:avLst/>
          </a:prstGeom>
          <a:noFill/>
          <a:ln/>
        </p:spPr>
        <p:txBody>
          <a:bodyPr wrap="square" lIns="0" tIns="0" rIns="0" bIns="0" rtlCol="0" anchor="t"/>
          <a:lstStyle/>
          <a:p>
            <a:pPr algn="l" indent="0" marL="0">
              <a:buNone/>
            </a:pPr>
            <a:r>
              <a:rPr lang="en-US" sz="1050" dirty="0">
                <a:solidFill>
                  <a:schemeClr val="accent3"/>
                </a:solidFill>
              </a:rPr>
              <a:t>„Windkraft“: 1.108 Treffer, Zahlen je Gebiet auf der Karte</a:t>
            </a:r>
            <a:endParaRPr lang="en-US" sz="1050" dirty="0"/>
          </a:p>
        </p:txBody>
      </p:sp>
      <p:sp>
        <p:nvSpPr>
          <p:cNvPr id="10" name="Text 5"/>
          <p:cNvSpPr txBox="1"/>
          <p:nvPr/>
        </p:nvSpPr>
        <p:spPr>
          <a:xfrm>
            <a:off x="5166360" y="4297680"/>
            <a:ext cx="3520440" cy="274320"/>
          </a:xfrm>
          <a:prstGeom prst="rect">
            <a:avLst/>
          </a:prstGeom>
          <a:noFill/>
          <a:ln/>
        </p:spPr>
        <p:txBody>
          <a:bodyPr wrap="square" lIns="0" tIns="0" rIns="0" bIns="0" rtlCol="0" anchor="t"/>
          <a:lstStyle/>
          <a:p>
            <a:pPr algn="l" indent="0" marL="0">
              <a:buNone/>
            </a:pPr>
            <a:r>
              <a:rPr lang="en-US" sz="1050" dirty="0">
                <a:solidFill>
                  <a:schemeClr val="accent3"/>
                </a:solidFill>
              </a:rPr>
              <a:t>Artikel mit Auszug aus der Vorlage und Link zur Quelle</a:t>
            </a:r>
            <a:endParaRPr lang="en-US" sz="10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PLENARA.X</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Aus Beratungen werden Antworten</a:t>
            </a:r>
            <a:endParaRPr lang="en-US" sz="2400" dirty="0"/>
          </a:p>
        </p:txBody>
      </p:sp>
      <p:sp>
        <p:nvSpPr>
          <p:cNvPr id="5" name="Shape 2"/>
          <p:cNvSpPr/>
          <p:nvPr/>
        </p:nvSpPr>
        <p:spPr>
          <a:xfrm>
            <a:off x="457200" y="1463040"/>
            <a:ext cx="457200" cy="457200"/>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571500" y="1577340"/>
            <a:ext cx="228600" cy="228600"/>
          </a:xfrm>
          <a:prstGeom prst="rect">
            <a:avLst/>
          </a:prstGeom>
        </p:spPr>
      </p:pic>
      <p:sp>
        <p:nvSpPr>
          <p:cNvPr id="7" name="Text 3"/>
          <p:cNvSpPr txBox="1"/>
          <p:nvPr/>
        </p:nvSpPr>
        <p:spPr>
          <a:xfrm>
            <a:off x="45720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Wo entsteht ein Auftrag?</a:t>
            </a:r>
            <a:endParaRPr lang="en-US" sz="1600" dirty="0"/>
          </a:p>
        </p:txBody>
      </p:sp>
      <p:sp>
        <p:nvSpPr>
          <p:cNvPr id="8" name="Text 4"/>
          <p:cNvSpPr txBox="1"/>
          <p:nvPr/>
        </p:nvSpPr>
        <p:spPr>
          <a:xfrm>
            <a:off x="457200" y="2420112"/>
            <a:ext cx="2560320" cy="1402080"/>
          </a:xfrm>
          <a:prstGeom prst="rect">
            <a:avLst/>
          </a:prstGeom>
          <a:noFill/>
          <a:ln/>
        </p:spPr>
        <p:txBody>
          <a:bodyPr wrap="square" lIns="0" tIns="0" rIns="0" bIns="0" rtlCol="0" anchor="t"/>
          <a:lstStyle/>
          <a:p>
            <a:pPr algn="l" indent="0" marL="0">
              <a:buNone/>
            </a:pPr>
            <a:r>
              <a:rPr lang="en-US" sz="1200" dirty="0">
                <a:solidFill>
                  <a:schemeClr val="accent3"/>
                </a:solidFill>
              </a:rPr>
              <a:t>Signale: Wind, Solar, Wärme, Wohnbau, Gewerbe, Glasfaser, Schulen. Je Vorgang Ort, Stand des Verfahrens und Quelle.</a:t>
            </a:r>
            <a:endParaRPr lang="en-US" sz="1200" dirty="0"/>
          </a:p>
        </p:txBody>
      </p:sp>
      <p:sp>
        <p:nvSpPr>
          <p:cNvPr id="9" name="Shape 5"/>
          <p:cNvSpPr/>
          <p:nvPr/>
        </p:nvSpPr>
        <p:spPr>
          <a:xfrm>
            <a:off x="3291840" y="1463040"/>
            <a:ext cx="457200" cy="457200"/>
          </a:xfrm>
          <a:prstGeom prst="ellipse">
            <a:avLst/>
          </a:prstGeom>
          <a:solidFill>
            <a:schemeClr val="accent5"/>
          </a:solidFill>
          <a:ln w="12700">
            <a:solidFill>
              <a:schemeClr val="accent5"/>
            </a:solidFill>
            <a:prstDash val="solid"/>
          </a:ln>
        </p:spPr>
      </p:sp>
      <p:pic>
        <p:nvPicPr>
          <p:cNvPr id="10" name="Image 1" descr="preencoded.png">    </p:cNvPr>
          <p:cNvPicPr>
            <a:picLocks noChangeAspect="1"/>
          </p:cNvPicPr>
          <p:nvPr/>
        </p:nvPicPr>
        <p:blipFill>
          <a:blip r:embed="rId2"/>
          <a:stretch>
            <a:fillRect/>
          </a:stretch>
        </p:blipFill>
        <p:spPr>
          <a:xfrm>
            <a:off x="3406140" y="1577340"/>
            <a:ext cx="228600" cy="228600"/>
          </a:xfrm>
          <a:prstGeom prst="rect">
            <a:avLst/>
          </a:prstGeom>
        </p:spPr>
      </p:pic>
      <p:sp>
        <p:nvSpPr>
          <p:cNvPr id="11" name="Text 6"/>
          <p:cNvSpPr txBox="1"/>
          <p:nvPr/>
        </p:nvSpPr>
        <p:spPr>
          <a:xfrm>
            <a:off x="329184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Was kostet es wo?</a:t>
            </a:r>
            <a:endParaRPr lang="en-US" sz="1600" dirty="0"/>
          </a:p>
        </p:txBody>
      </p:sp>
      <p:sp>
        <p:nvSpPr>
          <p:cNvPr id="12" name="Text 7"/>
          <p:cNvSpPr txBox="1"/>
          <p:nvPr/>
        </p:nvSpPr>
        <p:spPr>
          <a:xfrm>
            <a:off x="3291840" y="2420112"/>
            <a:ext cx="2560320" cy="1402080"/>
          </a:xfrm>
          <a:prstGeom prst="rect">
            <a:avLst/>
          </a:prstGeom>
          <a:noFill/>
          <a:ln/>
        </p:spPr>
        <p:txBody>
          <a:bodyPr wrap="square" lIns="0" tIns="0" rIns="0" bIns="0" rtlCol="0" anchor="t"/>
          <a:lstStyle/>
          <a:p>
            <a:pPr algn="l" indent="0" marL="0">
              <a:buNone/>
            </a:pPr>
            <a:r>
              <a:rPr lang="en-US" sz="1200" dirty="0">
                <a:solidFill>
                  <a:schemeClr val="accent3"/>
                </a:solidFill>
              </a:rPr>
              <a:t>Fakten: Hebesätze, Gebühren, Grundstückspreise je Gemeinde auf der Karte, mit Kreis- und Landesvergleich.</a:t>
            </a:r>
            <a:endParaRPr lang="en-US" sz="1200" dirty="0"/>
          </a:p>
        </p:txBody>
      </p:sp>
      <p:sp>
        <p:nvSpPr>
          <p:cNvPr id="13" name="Shape 8"/>
          <p:cNvSpPr/>
          <p:nvPr/>
        </p:nvSpPr>
        <p:spPr>
          <a:xfrm>
            <a:off x="6126480" y="1463040"/>
            <a:ext cx="457200" cy="457200"/>
          </a:xfrm>
          <a:prstGeom prst="ellipse">
            <a:avLst/>
          </a:prstGeom>
          <a:solidFill>
            <a:schemeClr val="accent5"/>
          </a:solidFill>
          <a:ln w="12700">
            <a:solidFill>
              <a:schemeClr val="accent5"/>
            </a:solidFill>
            <a:prstDash val="solid"/>
          </a:ln>
        </p:spPr>
      </p:sp>
      <p:pic>
        <p:nvPicPr>
          <p:cNvPr id="14" name="Image 2" descr="preencoded.png">    </p:cNvPr>
          <p:cNvPicPr>
            <a:picLocks noChangeAspect="1"/>
          </p:cNvPicPr>
          <p:nvPr/>
        </p:nvPicPr>
        <p:blipFill>
          <a:blip r:embed="rId3"/>
          <a:stretch>
            <a:fillRect/>
          </a:stretch>
        </p:blipFill>
        <p:spPr>
          <a:xfrm>
            <a:off x="6240780" y="1577340"/>
            <a:ext cx="228600" cy="228600"/>
          </a:xfrm>
          <a:prstGeom prst="rect">
            <a:avLst/>
          </a:prstGeom>
        </p:spPr>
      </p:pic>
      <p:sp>
        <p:nvSpPr>
          <p:cNvPr id="15" name="Text 9"/>
          <p:cNvSpPr txBox="1"/>
          <p:nvPr/>
        </p:nvSpPr>
        <p:spPr>
          <a:xfrm>
            <a:off x="6126480" y="2103120"/>
            <a:ext cx="2560320" cy="50596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Wie schnell greift ein Thema um sich?</a:t>
            </a:r>
            <a:endParaRPr lang="en-US" sz="1600" dirty="0"/>
          </a:p>
        </p:txBody>
      </p:sp>
      <p:sp>
        <p:nvSpPr>
          <p:cNvPr id="16" name="Text 10"/>
          <p:cNvSpPr txBox="1"/>
          <p:nvPr/>
        </p:nvSpPr>
        <p:spPr>
          <a:xfrm>
            <a:off x="6126480" y="2663952"/>
            <a:ext cx="2560320" cy="1158240"/>
          </a:xfrm>
          <a:prstGeom prst="rect">
            <a:avLst/>
          </a:prstGeom>
          <a:noFill/>
          <a:ln/>
        </p:spPr>
        <p:txBody>
          <a:bodyPr wrap="square" lIns="0" tIns="0" rIns="0" bIns="0" rtlCol="0" anchor="t"/>
          <a:lstStyle/>
          <a:p>
            <a:pPr algn="l" indent="0" marL="0">
              <a:buNone/>
            </a:pPr>
            <a:r>
              <a:rPr lang="en-US" sz="1200" dirty="0">
                <a:solidFill>
                  <a:schemeClr val="accent3"/>
                </a:solidFill>
              </a:rPr>
              <a:t>Ausbreitung: 2.499 Kommunen haben „Photovoltaik“ seit Oktober 2025 erstmals beraten. Wer zuerst dran war, wer folgt, wo es noch fehlt.</a:t>
            </a:r>
            <a:endParaRPr lang="en-US" sz="1200" dirty="0"/>
          </a:p>
        </p:txBody>
      </p:sp>
      <p:sp>
        <p:nvSpPr>
          <p:cNvPr id="17" name="Shape 11"/>
          <p:cNvSpPr/>
          <p:nvPr/>
        </p:nvSpPr>
        <p:spPr>
          <a:xfrm>
            <a:off x="457200" y="3931920"/>
            <a:ext cx="8229600" cy="548640"/>
          </a:xfrm>
          <a:prstGeom prst="roundRect">
            <a:avLst>
              <a:gd name="adj" fmla="val 16667"/>
            </a:avLst>
          </a:prstGeom>
          <a:solidFill>
            <a:schemeClr val="accent5"/>
          </a:solidFill>
          <a:ln w="12700">
            <a:solidFill>
              <a:schemeClr val="accent5"/>
            </a:solidFill>
            <a:prstDash val="solid"/>
          </a:ln>
        </p:spPr>
      </p:sp>
      <p:sp>
        <p:nvSpPr>
          <p:cNvPr id="18" name="Text 12"/>
          <p:cNvSpPr txBox="1"/>
          <p:nvPr/>
        </p:nvSpPr>
        <p:spPr>
          <a:xfrm>
            <a:off x="640080" y="3977640"/>
            <a:ext cx="7863840" cy="457200"/>
          </a:xfrm>
          <a:prstGeom prst="rect">
            <a:avLst/>
          </a:prstGeom>
          <a:noFill/>
          <a:ln/>
        </p:spPr>
        <p:txBody>
          <a:bodyPr wrap="square" lIns="0" tIns="0" rIns="0" bIns="0" rtlCol="0" anchor="ctr"/>
          <a:lstStyle/>
          <a:p>
            <a:pPr algn="l" indent="0" marL="0">
              <a:buNone/>
            </a:pPr>
            <a:r>
              <a:rPr lang="en-US" sz="1150" dirty="0">
                <a:solidFill>
                  <a:schemeClr val="accent2"/>
                </a:solidFill>
                <a:latin typeface="IBM Plex Sans SmBld" pitchFamily="34" charset="0"/>
                <a:ea typeface="IBM Plex Sans SmBld" pitchFamily="34" charset="-122"/>
                <a:cs typeface="IBM Plex Sans SmBld" pitchFamily="34" charset="-120"/>
              </a:rPr>
              <a:t>Regelbasiert und gemessen: </a:t>
            </a:r>
            <a:pPr algn="l" indent="0" marL="0">
              <a:buNone/>
            </a:pPr>
            <a:r>
              <a:rPr lang="en-US" sz="1150" dirty="0">
                <a:solidFill>
                  <a:schemeClr val="accent2"/>
                </a:solidFill>
              </a:rPr>
              <a:t>kein Modell im Ablauf, Freigabe erst ab 90 % geprüfter Qualität, jede Zahl führt zu den Vorgängen und Originalquellen.</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MARKT</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Wer früh wissen muss, was Räte planen</a:t>
            </a:r>
            <a:endParaRPr lang="en-US" sz="2400" dirty="0"/>
          </a:p>
        </p:txBody>
      </p:sp>
      <p:sp>
        <p:nvSpPr>
          <p:cNvPr id="5" name="Shape 2"/>
          <p:cNvSpPr/>
          <p:nvPr/>
        </p:nvSpPr>
        <p:spPr>
          <a:xfrm>
            <a:off x="457200" y="1417320"/>
            <a:ext cx="8229600" cy="0"/>
          </a:xfrm>
          <a:prstGeom prst="line">
            <a:avLst/>
          </a:prstGeom>
          <a:noFill/>
          <a:ln w="9525">
            <a:solidFill>
              <a:schemeClr val="accent6"/>
            </a:solidFill>
            <a:prstDash val="solid"/>
          </a:ln>
        </p:spPr>
      </p:sp>
      <p:sp>
        <p:nvSpPr>
          <p:cNvPr id="6" name="Shape 3"/>
          <p:cNvSpPr/>
          <p:nvPr/>
        </p:nvSpPr>
        <p:spPr>
          <a:xfrm>
            <a:off x="457200" y="1572768"/>
            <a:ext cx="384048" cy="384048"/>
          </a:xfrm>
          <a:prstGeom prst="ellipse">
            <a:avLst/>
          </a:prstGeom>
          <a:solidFill>
            <a:schemeClr val="accent5"/>
          </a:solidFill>
          <a:ln w="12700">
            <a:solidFill>
              <a:schemeClr val="accent5"/>
            </a:solidFill>
            <a:prstDash val="solid"/>
          </a:ln>
        </p:spPr>
      </p:sp>
      <p:pic>
        <p:nvPicPr>
          <p:cNvPr id="7" name="Image 0" descr="preencoded.png">    </p:cNvPr>
          <p:cNvPicPr>
            <a:picLocks noChangeAspect="1"/>
          </p:cNvPicPr>
          <p:nvPr/>
        </p:nvPicPr>
        <p:blipFill>
          <a:blip r:embed="rId1"/>
          <a:stretch>
            <a:fillRect/>
          </a:stretch>
        </p:blipFill>
        <p:spPr>
          <a:xfrm>
            <a:off x="553212" y="1668780"/>
            <a:ext cx="192024" cy="192024"/>
          </a:xfrm>
          <a:prstGeom prst="rect">
            <a:avLst/>
          </a:prstGeom>
        </p:spPr>
      </p:pic>
      <p:sp>
        <p:nvSpPr>
          <p:cNvPr id="8" name="Text 4"/>
          <p:cNvSpPr txBox="1"/>
          <p:nvPr/>
        </p:nvSpPr>
        <p:spPr>
          <a:xfrm>
            <a:off x="1005840" y="1554480"/>
            <a:ext cx="2834640" cy="457200"/>
          </a:xfrm>
          <a:prstGeom prst="rect">
            <a:avLst/>
          </a:prstGeom>
          <a:noFill/>
          <a:ln/>
        </p:spPr>
        <p:txBody>
          <a:bodyPr wrap="square" lIns="0" tIns="0" rIns="0" bIns="0" rtlCol="0" anchor="t"/>
          <a:lstStyle/>
          <a:p>
            <a:pPr algn="l" indent="0" marL="0">
              <a:buNone/>
            </a:pPr>
            <a:r>
              <a:rPr lang="en-US" sz="1300" dirty="0">
                <a:solidFill>
                  <a:schemeClr val="tx1"/>
                </a:solidFill>
                <a:latin typeface="IBM Plex Sans SmBld" pitchFamily="34" charset="0"/>
                <a:ea typeface="IBM Plex Sans SmBld" pitchFamily="34" charset="-122"/>
                <a:cs typeface="IBM Plex Sans SmBld" pitchFamily="34" charset="-120"/>
              </a:rPr>
              <a:t>Projektierer Wind, Solar, Speicher</a:t>
            </a:r>
            <a:endParaRPr lang="en-US" sz="1300" dirty="0"/>
          </a:p>
        </p:txBody>
      </p:sp>
      <p:sp>
        <p:nvSpPr>
          <p:cNvPr id="9" name="Text 5"/>
          <p:cNvSpPr txBox="1"/>
          <p:nvPr/>
        </p:nvSpPr>
        <p:spPr>
          <a:xfrm>
            <a:off x="4023360" y="1554480"/>
            <a:ext cx="4663440" cy="548640"/>
          </a:xfrm>
          <a:prstGeom prst="rect">
            <a:avLst/>
          </a:prstGeom>
          <a:noFill/>
          <a:ln/>
        </p:spPr>
        <p:txBody>
          <a:bodyPr wrap="square" lIns="0" tIns="0" rIns="0" bIns="0" rtlCol="0" anchor="t"/>
          <a:lstStyle/>
          <a:p>
            <a:pPr algn="l" indent="0" marL="0">
              <a:buNone/>
            </a:pPr>
            <a:r>
              <a:rPr lang="en-US" sz="1100" dirty="0">
                <a:solidFill>
                  <a:schemeClr val="accent3"/>
                </a:solidFill>
              </a:rPr>
              <a:t>Einstiegssegment: jede Fläche beginnt mit einem Ratsbeschluss. Zahlungsbereitschaft bei vergleichbaren Diensten belegt: 2.000 bis 6.000 € je Jahr.</a:t>
            </a:r>
            <a:endParaRPr lang="en-US" sz="1100" dirty="0"/>
          </a:p>
        </p:txBody>
      </p:sp>
      <p:sp>
        <p:nvSpPr>
          <p:cNvPr id="10" name="Shape 6"/>
          <p:cNvSpPr/>
          <p:nvPr/>
        </p:nvSpPr>
        <p:spPr>
          <a:xfrm>
            <a:off x="457200" y="2167128"/>
            <a:ext cx="8229600" cy="0"/>
          </a:xfrm>
          <a:prstGeom prst="line">
            <a:avLst/>
          </a:prstGeom>
          <a:noFill/>
          <a:ln w="9525">
            <a:solidFill>
              <a:schemeClr val="accent6"/>
            </a:solidFill>
            <a:prstDash val="solid"/>
          </a:ln>
        </p:spPr>
      </p:sp>
      <p:sp>
        <p:nvSpPr>
          <p:cNvPr id="11" name="Shape 7"/>
          <p:cNvSpPr/>
          <p:nvPr/>
        </p:nvSpPr>
        <p:spPr>
          <a:xfrm>
            <a:off x="457200" y="2322576"/>
            <a:ext cx="384048" cy="384048"/>
          </a:xfrm>
          <a:prstGeom prst="ellipse">
            <a:avLst/>
          </a:prstGeom>
          <a:solidFill>
            <a:schemeClr val="accent5"/>
          </a:solidFill>
          <a:ln w="12700">
            <a:solidFill>
              <a:schemeClr val="accent5"/>
            </a:solidFill>
            <a:prstDash val="solid"/>
          </a:ln>
        </p:spPr>
      </p:sp>
      <p:pic>
        <p:nvPicPr>
          <p:cNvPr id="12" name="Image 1" descr="preencoded.png">    </p:cNvPr>
          <p:cNvPicPr>
            <a:picLocks noChangeAspect="1"/>
          </p:cNvPicPr>
          <p:nvPr/>
        </p:nvPicPr>
        <p:blipFill>
          <a:blip r:embed="rId2"/>
          <a:stretch>
            <a:fillRect/>
          </a:stretch>
        </p:blipFill>
        <p:spPr>
          <a:xfrm>
            <a:off x="553212" y="2418588"/>
            <a:ext cx="192024" cy="192024"/>
          </a:xfrm>
          <a:prstGeom prst="rect">
            <a:avLst/>
          </a:prstGeom>
        </p:spPr>
      </p:pic>
      <p:sp>
        <p:nvSpPr>
          <p:cNvPr id="13" name="Text 8"/>
          <p:cNvSpPr txBox="1"/>
          <p:nvPr/>
        </p:nvSpPr>
        <p:spPr>
          <a:xfrm>
            <a:off x="1005840" y="2304288"/>
            <a:ext cx="2834640" cy="457200"/>
          </a:xfrm>
          <a:prstGeom prst="rect">
            <a:avLst/>
          </a:prstGeom>
          <a:noFill/>
          <a:ln/>
        </p:spPr>
        <p:txBody>
          <a:bodyPr wrap="square" lIns="0" tIns="0" rIns="0" bIns="0" rtlCol="0" anchor="t"/>
          <a:lstStyle/>
          <a:p>
            <a:pPr algn="l" indent="0" marL="0">
              <a:buNone/>
            </a:pPr>
            <a:r>
              <a:rPr lang="en-US" sz="1300" dirty="0">
                <a:solidFill>
                  <a:schemeClr val="tx1"/>
                </a:solidFill>
                <a:latin typeface="IBM Plex Sans SmBld" pitchFamily="34" charset="0"/>
                <a:ea typeface="IBM Plex Sans SmBld" pitchFamily="34" charset="-122"/>
                <a:cs typeface="IBM Plex Sans SmBld" pitchFamily="34" charset="-120"/>
              </a:rPr>
              <a:t>Bau, Glasfaser, Wohnungswirtschaft</a:t>
            </a:r>
            <a:endParaRPr lang="en-US" sz="1300" dirty="0"/>
          </a:p>
        </p:txBody>
      </p:sp>
      <p:sp>
        <p:nvSpPr>
          <p:cNvPr id="14" name="Text 9"/>
          <p:cNvSpPr txBox="1"/>
          <p:nvPr/>
        </p:nvSpPr>
        <p:spPr>
          <a:xfrm>
            <a:off x="4023360" y="2304288"/>
            <a:ext cx="4663440" cy="548640"/>
          </a:xfrm>
          <a:prstGeom prst="rect">
            <a:avLst/>
          </a:prstGeom>
          <a:noFill/>
          <a:ln/>
        </p:spPr>
        <p:txBody>
          <a:bodyPr wrap="square" lIns="0" tIns="0" rIns="0" bIns="0" rtlCol="0" anchor="t"/>
          <a:lstStyle/>
          <a:p>
            <a:pPr algn="l" indent="0" marL="0">
              <a:buNone/>
            </a:pPr>
            <a:r>
              <a:rPr lang="en-US" sz="1100" dirty="0">
                <a:solidFill>
                  <a:schemeClr val="accent3"/>
                </a:solidFill>
              </a:rPr>
              <a:t>Aufträge, bevor sie ausgeschrieben werden; Bebauungspläne und Markterkundungen, bevor sie öffentlich ausliegen.</a:t>
            </a:r>
            <a:endParaRPr lang="en-US" sz="1100" dirty="0"/>
          </a:p>
        </p:txBody>
      </p:sp>
      <p:sp>
        <p:nvSpPr>
          <p:cNvPr id="15" name="Shape 10"/>
          <p:cNvSpPr/>
          <p:nvPr/>
        </p:nvSpPr>
        <p:spPr>
          <a:xfrm>
            <a:off x="457200" y="2916936"/>
            <a:ext cx="8229600" cy="0"/>
          </a:xfrm>
          <a:prstGeom prst="line">
            <a:avLst/>
          </a:prstGeom>
          <a:noFill/>
          <a:ln w="9525">
            <a:solidFill>
              <a:schemeClr val="accent6"/>
            </a:solidFill>
            <a:prstDash val="solid"/>
          </a:ln>
        </p:spPr>
      </p:sp>
      <p:sp>
        <p:nvSpPr>
          <p:cNvPr id="16" name="Shape 11"/>
          <p:cNvSpPr/>
          <p:nvPr/>
        </p:nvSpPr>
        <p:spPr>
          <a:xfrm>
            <a:off x="457200" y="3072384"/>
            <a:ext cx="384048" cy="384048"/>
          </a:xfrm>
          <a:prstGeom prst="ellipse">
            <a:avLst/>
          </a:prstGeom>
          <a:solidFill>
            <a:schemeClr val="accent5"/>
          </a:solidFill>
          <a:ln w="12700">
            <a:solidFill>
              <a:schemeClr val="accent5"/>
            </a:solidFill>
            <a:prstDash val="solid"/>
          </a:ln>
        </p:spPr>
      </p:sp>
      <p:pic>
        <p:nvPicPr>
          <p:cNvPr id="17" name="Image 2" descr="preencoded.png">    </p:cNvPr>
          <p:cNvPicPr>
            <a:picLocks noChangeAspect="1"/>
          </p:cNvPicPr>
          <p:nvPr/>
        </p:nvPicPr>
        <p:blipFill>
          <a:blip r:embed="rId3"/>
          <a:stretch>
            <a:fillRect/>
          </a:stretch>
        </p:blipFill>
        <p:spPr>
          <a:xfrm>
            <a:off x="553212" y="3168396"/>
            <a:ext cx="192024" cy="192024"/>
          </a:xfrm>
          <a:prstGeom prst="rect">
            <a:avLst/>
          </a:prstGeom>
        </p:spPr>
      </p:pic>
      <p:sp>
        <p:nvSpPr>
          <p:cNvPr id="18" name="Text 12"/>
          <p:cNvSpPr txBox="1"/>
          <p:nvPr/>
        </p:nvSpPr>
        <p:spPr>
          <a:xfrm>
            <a:off x="1005840" y="3054096"/>
            <a:ext cx="2834640" cy="457200"/>
          </a:xfrm>
          <a:prstGeom prst="rect">
            <a:avLst/>
          </a:prstGeom>
          <a:noFill/>
          <a:ln/>
        </p:spPr>
        <p:txBody>
          <a:bodyPr wrap="square" lIns="0" tIns="0" rIns="0" bIns="0" rtlCol="0" anchor="t"/>
          <a:lstStyle/>
          <a:p>
            <a:pPr algn="l" indent="0" marL="0">
              <a:buNone/>
            </a:pPr>
            <a:r>
              <a:rPr lang="en-US" sz="1300" dirty="0">
                <a:solidFill>
                  <a:schemeClr val="tx1"/>
                </a:solidFill>
                <a:latin typeface="IBM Plex Sans SmBld" pitchFamily="34" charset="0"/>
                <a:ea typeface="IBM Plex Sans SmBld" pitchFamily="34" charset="-122"/>
                <a:cs typeface="IBM Plex Sans SmBld" pitchFamily="34" charset="-120"/>
              </a:rPr>
              <a:t>Verbände, Agenturen, Presse</a:t>
            </a:r>
            <a:endParaRPr lang="en-US" sz="1300" dirty="0"/>
          </a:p>
        </p:txBody>
      </p:sp>
      <p:sp>
        <p:nvSpPr>
          <p:cNvPr id="19" name="Text 13"/>
          <p:cNvSpPr txBox="1"/>
          <p:nvPr/>
        </p:nvSpPr>
        <p:spPr>
          <a:xfrm>
            <a:off x="4023360" y="3054096"/>
            <a:ext cx="4663440" cy="548640"/>
          </a:xfrm>
          <a:prstGeom prst="rect">
            <a:avLst/>
          </a:prstGeom>
          <a:noFill/>
          <a:ln/>
        </p:spPr>
        <p:txBody>
          <a:bodyPr wrap="square" lIns="0" tIns="0" rIns="0" bIns="0" rtlCol="0" anchor="t"/>
          <a:lstStyle/>
          <a:p>
            <a:pPr algn="l" indent="0" marL="0">
              <a:buNone/>
            </a:pPr>
            <a:r>
              <a:rPr lang="en-US" sz="1100" dirty="0">
                <a:solidFill>
                  <a:schemeClr val="accent3"/>
                </a:solidFill>
              </a:rPr>
              <a:t>Viele Orte, ein Werkzeug: Mandanten-Suchen, Fakten je Gemeinde, Meldungen mit Zitat und Quelle.</a:t>
            </a:r>
            <a:endParaRPr lang="en-US" sz="1100" dirty="0"/>
          </a:p>
        </p:txBody>
      </p:sp>
      <p:sp>
        <p:nvSpPr>
          <p:cNvPr id="20" name="Shape 14"/>
          <p:cNvSpPr/>
          <p:nvPr/>
        </p:nvSpPr>
        <p:spPr>
          <a:xfrm>
            <a:off x="457200" y="3666744"/>
            <a:ext cx="8229600" cy="0"/>
          </a:xfrm>
          <a:prstGeom prst="line">
            <a:avLst/>
          </a:prstGeom>
          <a:noFill/>
          <a:ln w="9525">
            <a:solidFill>
              <a:schemeClr val="accent6"/>
            </a:solidFill>
            <a:prstDash val="solid"/>
          </a:ln>
        </p:spPr>
      </p:sp>
      <p:sp>
        <p:nvSpPr>
          <p:cNvPr id="21" name="Shape 15"/>
          <p:cNvSpPr/>
          <p:nvPr/>
        </p:nvSpPr>
        <p:spPr>
          <a:xfrm>
            <a:off x="457200" y="3822192"/>
            <a:ext cx="384048" cy="384048"/>
          </a:xfrm>
          <a:prstGeom prst="ellipse">
            <a:avLst/>
          </a:prstGeom>
          <a:solidFill>
            <a:schemeClr val="accent5"/>
          </a:solidFill>
          <a:ln w="12700">
            <a:solidFill>
              <a:schemeClr val="accent5"/>
            </a:solidFill>
            <a:prstDash val="solid"/>
          </a:ln>
        </p:spPr>
      </p:sp>
      <p:pic>
        <p:nvPicPr>
          <p:cNvPr id="22" name="Image 3" descr="preencoded.png">    </p:cNvPr>
          <p:cNvPicPr>
            <a:picLocks noChangeAspect="1"/>
          </p:cNvPicPr>
          <p:nvPr/>
        </p:nvPicPr>
        <p:blipFill>
          <a:blip r:embed="rId4"/>
          <a:stretch>
            <a:fillRect/>
          </a:stretch>
        </p:blipFill>
        <p:spPr>
          <a:xfrm>
            <a:off x="553212" y="3918204"/>
            <a:ext cx="192024" cy="192024"/>
          </a:xfrm>
          <a:prstGeom prst="rect">
            <a:avLst/>
          </a:prstGeom>
        </p:spPr>
      </p:pic>
      <p:sp>
        <p:nvSpPr>
          <p:cNvPr id="23" name="Text 16"/>
          <p:cNvSpPr txBox="1"/>
          <p:nvPr/>
        </p:nvSpPr>
        <p:spPr>
          <a:xfrm>
            <a:off x="1005840" y="3803904"/>
            <a:ext cx="2834640" cy="457200"/>
          </a:xfrm>
          <a:prstGeom prst="rect">
            <a:avLst/>
          </a:prstGeom>
          <a:noFill/>
          <a:ln/>
        </p:spPr>
        <p:txBody>
          <a:bodyPr wrap="square" lIns="0" tIns="0" rIns="0" bIns="0" rtlCol="0" anchor="t"/>
          <a:lstStyle/>
          <a:p>
            <a:pPr algn="l" indent="0" marL="0">
              <a:buNone/>
            </a:pPr>
            <a:r>
              <a:rPr lang="en-US" sz="1300" dirty="0">
                <a:solidFill>
                  <a:schemeClr val="tx1"/>
                </a:solidFill>
                <a:latin typeface="IBM Plex Sans SmBld" pitchFamily="34" charset="0"/>
                <a:ea typeface="IBM Plex Sans SmBld" pitchFamily="34" charset="-122"/>
                <a:cs typeface="IBM Plex Sans SmBld" pitchFamily="34" charset="-120"/>
              </a:rPr>
              <a:t>Fraktionen, Bürgerinnen und Bürger</a:t>
            </a:r>
            <a:endParaRPr lang="en-US" sz="1300" dirty="0"/>
          </a:p>
        </p:txBody>
      </p:sp>
      <p:sp>
        <p:nvSpPr>
          <p:cNvPr id="24" name="Text 17"/>
          <p:cNvSpPr txBox="1"/>
          <p:nvPr/>
        </p:nvSpPr>
        <p:spPr>
          <a:xfrm>
            <a:off x="4023360" y="3803904"/>
            <a:ext cx="4663440" cy="548640"/>
          </a:xfrm>
          <a:prstGeom prst="rect">
            <a:avLst/>
          </a:prstGeom>
          <a:noFill/>
          <a:ln/>
        </p:spPr>
        <p:txBody>
          <a:bodyPr wrap="square" lIns="0" tIns="0" rIns="0" bIns="0" rtlCol="0" anchor="t"/>
          <a:lstStyle/>
          <a:p>
            <a:pPr algn="l" indent="0" marL="0">
              <a:buNone/>
            </a:pPr>
            <a:r>
              <a:rPr lang="en-US" sz="1100" dirty="0">
                <a:solidFill>
                  <a:schemeClr val="accent3"/>
                </a:solidFill>
              </a:rPr>
              <a:t>Kostenlose Suche als Reichweitenflanke: Sichtbarkeit, Zitate in der Presse, Anfragen.</a:t>
            </a:r>
            <a:endParaRPr lang="en-US" sz="1100" dirty="0"/>
          </a:p>
        </p:txBody>
      </p:sp>
      <p:sp>
        <p:nvSpPr>
          <p:cNvPr id="25" name="Shape 18"/>
          <p:cNvSpPr/>
          <p:nvPr/>
        </p:nvSpPr>
        <p:spPr>
          <a:xfrm>
            <a:off x="457200" y="4416552"/>
            <a:ext cx="8229600" cy="0"/>
          </a:xfrm>
          <a:prstGeom prst="line">
            <a:avLst/>
          </a:prstGeom>
          <a:noFill/>
          <a:ln w="9525">
            <a:solidFill>
              <a:schemeClr val="accent6"/>
            </a:solidFill>
            <a:prstDash val="solid"/>
          </a:ln>
        </p:spPr>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GESCHÄFTSMODELL</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Abo-Erlöse, Software statt Beratung</a:t>
            </a:r>
            <a:endParaRPr lang="en-US" sz="2400" dirty="0"/>
          </a:p>
        </p:txBody>
      </p:sp>
      <p:sp>
        <p:nvSpPr>
          <p:cNvPr id="5" name="Shape 2"/>
          <p:cNvSpPr/>
          <p:nvPr/>
        </p:nvSpPr>
        <p:spPr>
          <a:xfrm>
            <a:off x="457200" y="1417320"/>
            <a:ext cx="2651760" cy="2331720"/>
          </a:xfrm>
          <a:prstGeom prst="roundRect">
            <a:avLst>
              <a:gd name="adj" fmla="val 3922"/>
            </a:avLst>
          </a:prstGeom>
          <a:solidFill>
            <a:schemeClr val="bg2"/>
          </a:solidFill>
          <a:ln w="9525">
            <a:solidFill>
              <a:schemeClr val="accent6"/>
            </a:solidFill>
            <a:prstDash val="solid"/>
          </a:ln>
        </p:spPr>
      </p:sp>
      <p:sp>
        <p:nvSpPr>
          <p:cNvPr id="6" name="Shape 3"/>
          <p:cNvSpPr/>
          <p:nvPr/>
        </p:nvSpPr>
        <p:spPr>
          <a:xfrm>
            <a:off x="685800" y="1645920"/>
            <a:ext cx="402336" cy="402336"/>
          </a:xfrm>
          <a:prstGeom prst="ellipse">
            <a:avLst/>
          </a:prstGeom>
          <a:solidFill>
            <a:schemeClr val="accent5"/>
          </a:solidFill>
          <a:ln w="12700">
            <a:solidFill>
              <a:schemeClr val="accent5"/>
            </a:solidFill>
            <a:prstDash val="solid"/>
          </a:ln>
        </p:spPr>
      </p:sp>
      <p:pic>
        <p:nvPicPr>
          <p:cNvPr id="7" name="Image 0" descr="preencoded.png">    </p:cNvPr>
          <p:cNvPicPr>
            <a:picLocks noChangeAspect="1"/>
          </p:cNvPicPr>
          <p:nvPr/>
        </p:nvPicPr>
        <p:blipFill>
          <a:blip r:embed="rId1"/>
          <a:stretch>
            <a:fillRect/>
          </a:stretch>
        </p:blipFill>
        <p:spPr>
          <a:xfrm>
            <a:off x="786384" y="1746504"/>
            <a:ext cx="201168" cy="201168"/>
          </a:xfrm>
          <a:prstGeom prst="rect">
            <a:avLst/>
          </a:prstGeom>
        </p:spPr>
      </p:pic>
      <p:sp>
        <p:nvSpPr>
          <p:cNvPr id="8" name="Text 4"/>
          <p:cNvSpPr txBox="1"/>
          <p:nvPr/>
        </p:nvSpPr>
        <p:spPr>
          <a:xfrm>
            <a:off x="685800" y="2194560"/>
            <a:ext cx="2194560" cy="274320"/>
          </a:xfrm>
          <a:prstGeom prst="rect">
            <a:avLst/>
          </a:prstGeom>
          <a:noFill/>
          <a:ln/>
        </p:spPr>
        <p:txBody>
          <a:bodyPr wrap="square" lIns="0" tIns="0" rIns="0" bIns="0" rtlCol="0" anchor="t"/>
          <a:lstStyle/>
          <a:p>
            <a:pPr algn="l" indent="0" marL="0">
              <a:buNone/>
            </a:pPr>
            <a:r>
              <a:rPr lang="en-US" sz="1400" dirty="0">
                <a:solidFill>
                  <a:schemeClr val="tx1"/>
                </a:solidFill>
                <a:latin typeface="IBM Plex Sans SmBld" pitchFamily="34" charset="0"/>
                <a:ea typeface="IBM Plex Sans SmBld" pitchFamily="34" charset="-122"/>
                <a:cs typeface="IBM Plex Sans SmBld" pitchFamily="34" charset="-120"/>
              </a:rPr>
              <a:t>Self-Service</a:t>
            </a:r>
            <a:endParaRPr lang="en-US" sz="1400" dirty="0"/>
          </a:p>
        </p:txBody>
      </p:sp>
      <p:sp>
        <p:nvSpPr>
          <p:cNvPr id="9" name="Text 5"/>
          <p:cNvSpPr txBox="1"/>
          <p:nvPr/>
        </p:nvSpPr>
        <p:spPr>
          <a:xfrm>
            <a:off x="685800" y="2468880"/>
            <a:ext cx="2194560" cy="320040"/>
          </a:xfrm>
          <a:prstGeom prst="rect">
            <a:avLst/>
          </a:prstGeom>
          <a:noFill/>
          <a:ln/>
        </p:spPr>
        <p:txBody>
          <a:bodyPr wrap="square" lIns="0" tIns="0" rIns="0" bIns="0" rtlCol="0" anchor="t"/>
          <a:lstStyle/>
          <a:p>
            <a:pPr algn="l" indent="0" marL="0">
              <a:buNone/>
            </a:pPr>
            <a:r>
              <a:rPr lang="en-US" sz="1600" dirty="0">
                <a:solidFill>
                  <a:schemeClr val="accent2"/>
                </a:solidFill>
                <a:latin typeface="IBM Plex Sans SmBld" pitchFamily="34" charset="0"/>
                <a:ea typeface="IBM Plex Sans SmBld" pitchFamily="34" charset="-122"/>
                <a:cs typeface="IBM Plex Sans SmBld" pitchFamily="34" charset="-120"/>
              </a:rPr>
              <a:t>149 bis 990 € je Monat</a:t>
            </a:r>
            <a:endParaRPr lang="en-US" sz="1600" dirty="0"/>
          </a:p>
        </p:txBody>
      </p:sp>
      <p:sp>
        <p:nvSpPr>
          <p:cNvPr id="10" name="Text 6"/>
          <p:cNvSpPr txBox="1"/>
          <p:nvPr/>
        </p:nvSpPr>
        <p:spPr>
          <a:xfrm>
            <a:off x="685800" y="2880360"/>
            <a:ext cx="2194560" cy="822960"/>
          </a:xfrm>
          <a:prstGeom prst="rect">
            <a:avLst/>
          </a:prstGeom>
          <a:noFill/>
          <a:ln/>
        </p:spPr>
        <p:txBody>
          <a:bodyPr wrap="square" lIns="0" tIns="0" rIns="0" bIns="0" rtlCol="0" anchor="t"/>
          <a:lstStyle/>
          <a:p>
            <a:pPr algn="l" indent="0" marL="0">
              <a:buNone/>
            </a:pPr>
            <a:r>
              <a:rPr lang="en-US" sz="1100" dirty="0">
                <a:solidFill>
                  <a:schemeClr val="accent3"/>
                </a:solidFill>
              </a:rPr>
              <a:t>Einzelnutzer und Teams: Suche, Alarme, Export. Monatlich kündbar, Start ohne Gespräch.</a:t>
            </a:r>
            <a:endParaRPr lang="en-US" sz="1100" dirty="0"/>
          </a:p>
        </p:txBody>
      </p:sp>
      <p:sp>
        <p:nvSpPr>
          <p:cNvPr id="11" name="Shape 7"/>
          <p:cNvSpPr/>
          <p:nvPr/>
        </p:nvSpPr>
        <p:spPr>
          <a:xfrm>
            <a:off x="3246120" y="1417320"/>
            <a:ext cx="2651760" cy="2331720"/>
          </a:xfrm>
          <a:prstGeom prst="roundRect">
            <a:avLst>
              <a:gd name="adj" fmla="val 3922"/>
            </a:avLst>
          </a:prstGeom>
          <a:solidFill>
            <a:schemeClr val="bg2"/>
          </a:solidFill>
          <a:ln w="9525">
            <a:solidFill>
              <a:schemeClr val="accent6"/>
            </a:solidFill>
            <a:prstDash val="solid"/>
          </a:ln>
        </p:spPr>
      </p:sp>
      <p:sp>
        <p:nvSpPr>
          <p:cNvPr id="12" name="Shape 8"/>
          <p:cNvSpPr/>
          <p:nvPr/>
        </p:nvSpPr>
        <p:spPr>
          <a:xfrm>
            <a:off x="3474720" y="1645920"/>
            <a:ext cx="402336" cy="402336"/>
          </a:xfrm>
          <a:prstGeom prst="ellipse">
            <a:avLst/>
          </a:prstGeom>
          <a:solidFill>
            <a:schemeClr val="accent5"/>
          </a:solidFill>
          <a:ln w="12700">
            <a:solidFill>
              <a:schemeClr val="accent5"/>
            </a:solidFill>
            <a:prstDash val="solid"/>
          </a:ln>
        </p:spPr>
      </p:sp>
      <p:pic>
        <p:nvPicPr>
          <p:cNvPr id="13" name="Image 1" descr="preencoded.png">    </p:cNvPr>
          <p:cNvPicPr>
            <a:picLocks noChangeAspect="1"/>
          </p:cNvPicPr>
          <p:nvPr/>
        </p:nvPicPr>
        <p:blipFill>
          <a:blip r:embed="rId2"/>
          <a:stretch>
            <a:fillRect/>
          </a:stretch>
        </p:blipFill>
        <p:spPr>
          <a:xfrm>
            <a:off x="3575304" y="1746504"/>
            <a:ext cx="201168" cy="201168"/>
          </a:xfrm>
          <a:prstGeom prst="rect">
            <a:avLst/>
          </a:prstGeom>
        </p:spPr>
      </p:pic>
      <p:sp>
        <p:nvSpPr>
          <p:cNvPr id="14" name="Text 9"/>
          <p:cNvSpPr txBox="1"/>
          <p:nvPr/>
        </p:nvSpPr>
        <p:spPr>
          <a:xfrm>
            <a:off x="3474720" y="2194560"/>
            <a:ext cx="2194560" cy="274320"/>
          </a:xfrm>
          <a:prstGeom prst="rect">
            <a:avLst/>
          </a:prstGeom>
          <a:noFill/>
          <a:ln/>
        </p:spPr>
        <p:txBody>
          <a:bodyPr wrap="square" lIns="0" tIns="0" rIns="0" bIns="0" rtlCol="0" anchor="t"/>
          <a:lstStyle/>
          <a:p>
            <a:pPr algn="l" indent="0" marL="0">
              <a:buNone/>
            </a:pPr>
            <a:r>
              <a:rPr lang="en-US" sz="1400" dirty="0">
                <a:solidFill>
                  <a:schemeClr val="tx1"/>
                </a:solidFill>
                <a:latin typeface="IBM Plex Sans SmBld" pitchFamily="34" charset="0"/>
                <a:ea typeface="IBM Plex Sans SmBld" pitchFamily="34" charset="-122"/>
                <a:cs typeface="IBM Plex Sans SmBld" pitchFamily="34" charset="-120"/>
              </a:rPr>
              <a:t>Enterprise</a:t>
            </a:r>
            <a:endParaRPr lang="en-US" sz="1400" dirty="0"/>
          </a:p>
        </p:txBody>
      </p:sp>
      <p:sp>
        <p:nvSpPr>
          <p:cNvPr id="15" name="Text 10"/>
          <p:cNvSpPr txBox="1"/>
          <p:nvPr/>
        </p:nvSpPr>
        <p:spPr>
          <a:xfrm>
            <a:off x="3474720" y="2468880"/>
            <a:ext cx="2194560" cy="320040"/>
          </a:xfrm>
          <a:prstGeom prst="rect">
            <a:avLst/>
          </a:prstGeom>
          <a:noFill/>
          <a:ln/>
        </p:spPr>
        <p:txBody>
          <a:bodyPr wrap="square" lIns="0" tIns="0" rIns="0" bIns="0" rtlCol="0" anchor="t"/>
          <a:lstStyle/>
          <a:p>
            <a:pPr algn="l" indent="0" marL="0">
              <a:buNone/>
            </a:pPr>
            <a:r>
              <a:rPr lang="en-US" sz="1600" dirty="0">
                <a:solidFill>
                  <a:schemeClr val="accent2"/>
                </a:solidFill>
                <a:latin typeface="IBM Plex Sans SmBld" pitchFamily="34" charset="0"/>
                <a:ea typeface="IBM Plex Sans SmBld" pitchFamily="34" charset="-122"/>
                <a:cs typeface="IBM Plex Sans SmBld" pitchFamily="34" charset="-120"/>
              </a:rPr>
              <a:t>ab 6.000 € je Jahr</a:t>
            </a:r>
            <a:endParaRPr lang="en-US" sz="1600" dirty="0"/>
          </a:p>
        </p:txBody>
      </p:sp>
      <p:sp>
        <p:nvSpPr>
          <p:cNvPr id="16" name="Text 11"/>
          <p:cNvSpPr txBox="1"/>
          <p:nvPr/>
        </p:nvSpPr>
        <p:spPr>
          <a:xfrm>
            <a:off x="3474720" y="2880360"/>
            <a:ext cx="2194560" cy="822960"/>
          </a:xfrm>
          <a:prstGeom prst="rect">
            <a:avLst/>
          </a:prstGeom>
          <a:noFill/>
          <a:ln/>
        </p:spPr>
        <p:txBody>
          <a:bodyPr wrap="square" lIns="0" tIns="0" rIns="0" bIns="0" rtlCol="0" anchor="t"/>
          <a:lstStyle/>
          <a:p>
            <a:pPr algn="l" indent="0" marL="0">
              <a:buNone/>
            </a:pPr>
            <a:r>
              <a:rPr lang="en-US" sz="1100" dirty="0">
                <a:solidFill>
                  <a:schemeClr val="accent3"/>
                </a:solidFill>
              </a:rPr>
              <a:t>Verbände, Agenturen, Konzerne: Mandanten-Suchen, Reporting, plenara.X mit allen Analysen.</a:t>
            </a:r>
            <a:endParaRPr lang="en-US" sz="1100" dirty="0"/>
          </a:p>
        </p:txBody>
      </p:sp>
      <p:sp>
        <p:nvSpPr>
          <p:cNvPr id="17" name="Shape 12"/>
          <p:cNvSpPr/>
          <p:nvPr/>
        </p:nvSpPr>
        <p:spPr>
          <a:xfrm>
            <a:off x="6035040" y="1417320"/>
            <a:ext cx="2651760" cy="2331720"/>
          </a:xfrm>
          <a:prstGeom prst="roundRect">
            <a:avLst>
              <a:gd name="adj" fmla="val 3922"/>
            </a:avLst>
          </a:prstGeom>
          <a:solidFill>
            <a:schemeClr val="bg2"/>
          </a:solidFill>
          <a:ln w="9525">
            <a:solidFill>
              <a:schemeClr val="accent6"/>
            </a:solidFill>
            <a:prstDash val="solid"/>
          </a:ln>
        </p:spPr>
      </p:sp>
      <p:sp>
        <p:nvSpPr>
          <p:cNvPr id="18" name="Shape 13"/>
          <p:cNvSpPr/>
          <p:nvPr/>
        </p:nvSpPr>
        <p:spPr>
          <a:xfrm>
            <a:off x="6263640" y="1645920"/>
            <a:ext cx="402336" cy="402336"/>
          </a:xfrm>
          <a:prstGeom prst="ellipse">
            <a:avLst/>
          </a:prstGeom>
          <a:solidFill>
            <a:schemeClr val="accent5"/>
          </a:solidFill>
          <a:ln w="12700">
            <a:solidFill>
              <a:schemeClr val="accent5"/>
            </a:solidFill>
            <a:prstDash val="solid"/>
          </a:ln>
        </p:spPr>
      </p:sp>
      <p:pic>
        <p:nvPicPr>
          <p:cNvPr id="19" name="Image 2" descr="preencoded.png">    </p:cNvPr>
          <p:cNvPicPr>
            <a:picLocks noChangeAspect="1"/>
          </p:cNvPicPr>
          <p:nvPr/>
        </p:nvPicPr>
        <p:blipFill>
          <a:blip r:embed="rId3"/>
          <a:stretch>
            <a:fillRect/>
          </a:stretch>
        </p:blipFill>
        <p:spPr>
          <a:xfrm>
            <a:off x="6364224" y="1746504"/>
            <a:ext cx="201168" cy="201168"/>
          </a:xfrm>
          <a:prstGeom prst="rect">
            <a:avLst/>
          </a:prstGeom>
        </p:spPr>
      </p:pic>
      <p:sp>
        <p:nvSpPr>
          <p:cNvPr id="20" name="Text 14"/>
          <p:cNvSpPr txBox="1"/>
          <p:nvPr/>
        </p:nvSpPr>
        <p:spPr>
          <a:xfrm>
            <a:off x="6263640" y="2194560"/>
            <a:ext cx="2194560" cy="274320"/>
          </a:xfrm>
          <a:prstGeom prst="rect">
            <a:avLst/>
          </a:prstGeom>
          <a:noFill/>
          <a:ln/>
        </p:spPr>
        <p:txBody>
          <a:bodyPr wrap="square" lIns="0" tIns="0" rIns="0" bIns="0" rtlCol="0" anchor="t"/>
          <a:lstStyle/>
          <a:p>
            <a:pPr algn="l" indent="0" marL="0">
              <a:buNone/>
            </a:pPr>
            <a:r>
              <a:rPr lang="en-US" sz="1400" dirty="0">
                <a:solidFill>
                  <a:schemeClr val="tx1"/>
                </a:solidFill>
                <a:latin typeface="IBM Plex Sans SmBld" pitchFamily="34" charset="0"/>
                <a:ea typeface="IBM Plex Sans SmBld" pitchFamily="34" charset="-122"/>
                <a:cs typeface="IBM Plex Sans SmBld" pitchFamily="34" charset="-120"/>
              </a:rPr>
              <a:t>Daten-Feed</a:t>
            </a:r>
            <a:endParaRPr lang="en-US" sz="1400" dirty="0"/>
          </a:p>
        </p:txBody>
      </p:sp>
      <p:sp>
        <p:nvSpPr>
          <p:cNvPr id="21" name="Text 15"/>
          <p:cNvSpPr txBox="1"/>
          <p:nvPr/>
        </p:nvSpPr>
        <p:spPr>
          <a:xfrm>
            <a:off x="6263640" y="2468880"/>
            <a:ext cx="2194560" cy="320040"/>
          </a:xfrm>
          <a:prstGeom prst="rect">
            <a:avLst/>
          </a:prstGeom>
          <a:noFill/>
          <a:ln/>
        </p:spPr>
        <p:txBody>
          <a:bodyPr wrap="square" lIns="0" tIns="0" rIns="0" bIns="0" rtlCol="0" anchor="t"/>
          <a:lstStyle/>
          <a:p>
            <a:pPr algn="l" indent="0" marL="0">
              <a:buNone/>
            </a:pPr>
            <a:r>
              <a:rPr lang="en-US" sz="1600" dirty="0">
                <a:solidFill>
                  <a:schemeClr val="accent2"/>
                </a:solidFill>
                <a:latin typeface="IBM Plex Sans SmBld" pitchFamily="34" charset="0"/>
                <a:ea typeface="IBM Plex Sans SmBld" pitchFamily="34" charset="-122"/>
                <a:cs typeface="IBM Plex Sans SmBld" pitchFamily="34" charset="-120"/>
              </a:rPr>
              <a:t>ab Phase 3</a:t>
            </a:r>
            <a:endParaRPr lang="en-US" sz="1600" dirty="0"/>
          </a:p>
        </p:txBody>
      </p:sp>
      <p:sp>
        <p:nvSpPr>
          <p:cNvPr id="22" name="Text 16"/>
          <p:cNvSpPr txBox="1"/>
          <p:nvPr/>
        </p:nvSpPr>
        <p:spPr>
          <a:xfrm>
            <a:off x="6263640" y="2880360"/>
            <a:ext cx="2194560" cy="822960"/>
          </a:xfrm>
          <a:prstGeom prst="rect">
            <a:avLst/>
          </a:prstGeom>
          <a:noFill/>
          <a:ln/>
        </p:spPr>
        <p:txBody>
          <a:bodyPr wrap="square" lIns="0" tIns="0" rIns="0" bIns="0" rtlCol="0" anchor="t"/>
          <a:lstStyle/>
          <a:p>
            <a:pPr algn="l" indent="0" marL="0">
              <a:buNone/>
            </a:pPr>
            <a:r>
              <a:rPr lang="en-US" sz="1100" dirty="0">
                <a:solidFill>
                  <a:schemeClr val="accent3"/>
                </a:solidFill>
              </a:rPr>
              <a:t>Strukturierte Vorgänge als Feed, nur an Nicht-Wettbewerber. Zweitverwertung derselben Infrastruktur.</a:t>
            </a:r>
            <a:endParaRPr lang="en-US" sz="1100" dirty="0"/>
          </a:p>
        </p:txBody>
      </p:sp>
      <p:sp>
        <p:nvSpPr>
          <p:cNvPr id="23" name="Text 17"/>
          <p:cNvSpPr txBox="1"/>
          <p:nvPr/>
        </p:nvSpPr>
        <p:spPr>
          <a:xfrm>
            <a:off x="457200" y="3931920"/>
            <a:ext cx="8229600" cy="548640"/>
          </a:xfrm>
          <a:prstGeom prst="rect">
            <a:avLst/>
          </a:prstGeom>
          <a:noFill/>
          <a:ln/>
        </p:spPr>
        <p:txBody>
          <a:bodyPr wrap="square" lIns="0" tIns="0" rIns="0" bIns="0" rtlCol="0" anchor="t"/>
          <a:lstStyle/>
          <a:p>
            <a:pPr algn="l" indent="0" marL="0">
              <a:buNone/>
            </a:pPr>
            <a:r>
              <a:rPr lang="en-US" sz="1050" dirty="0">
                <a:solidFill>
                  <a:schemeClr val="accent3"/>
                </a:solidFill>
              </a:rPr>
              <a:t>Preise: Plan aus der Kommerzialisierungsstrategie (Stand 02.10.26), in der Testphase auf Anfrage. Die kostenlose Suche bleibt als Reichweitenflanke; Förderung nur für den offenen Datensockel, nie für den Kern.</a:t>
            </a:r>
            <a:endParaRPr lang="en-US" sz="10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WARUM PLENARA</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Vier Dinge, die schwer zu kopieren sind</a:t>
            </a:r>
            <a:endParaRPr lang="en-US" sz="2400" dirty="0"/>
          </a:p>
        </p:txBody>
      </p:sp>
      <p:sp>
        <p:nvSpPr>
          <p:cNvPr id="5" name="Shape 2"/>
          <p:cNvSpPr/>
          <p:nvPr/>
        </p:nvSpPr>
        <p:spPr>
          <a:xfrm>
            <a:off x="457200" y="1463040"/>
            <a:ext cx="420624" cy="420624"/>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562356" y="1568196"/>
            <a:ext cx="210312" cy="210312"/>
          </a:xfrm>
          <a:prstGeom prst="rect">
            <a:avLst/>
          </a:prstGeom>
        </p:spPr>
      </p:pic>
      <p:sp>
        <p:nvSpPr>
          <p:cNvPr id="7" name="Text 3"/>
          <p:cNvSpPr txBox="1"/>
          <p:nvPr/>
        </p:nvSpPr>
        <p:spPr>
          <a:xfrm>
            <a:off x="1005840" y="1444752"/>
            <a:ext cx="3383280" cy="292608"/>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Der Zulauf</a:t>
            </a:r>
            <a:endParaRPr lang="en-US" sz="1500" dirty="0"/>
          </a:p>
        </p:txBody>
      </p:sp>
      <p:sp>
        <p:nvSpPr>
          <p:cNvPr id="8" name="Text 4"/>
          <p:cNvSpPr txBox="1"/>
          <p:nvPr/>
        </p:nvSpPr>
        <p:spPr>
          <a:xfrm>
            <a:off x="1005840" y="1764792"/>
            <a:ext cx="3383280" cy="1005840"/>
          </a:xfrm>
          <a:prstGeom prst="rect">
            <a:avLst/>
          </a:prstGeom>
          <a:noFill/>
          <a:ln/>
        </p:spPr>
        <p:txBody>
          <a:bodyPr wrap="square" lIns="0" tIns="0" rIns="0" bIns="0" rtlCol="0" anchor="t"/>
          <a:lstStyle/>
          <a:p>
            <a:pPr algn="l" indent="0" marL="0">
              <a:buNone/>
            </a:pPr>
            <a:r>
              <a:rPr lang="en-US" sz="1150" dirty="0">
                <a:solidFill>
                  <a:schemeClr val="accent3"/>
                </a:solidFill>
              </a:rPr>
              <a:t>8.076 Systeme angebunden, alle 10 Minuten neue Berichte, nachts vollständig. Jahre an Anbindungsarbeit, die niemand überspringt.</a:t>
            </a:r>
            <a:endParaRPr lang="en-US" sz="1150" dirty="0"/>
          </a:p>
        </p:txBody>
      </p:sp>
      <p:sp>
        <p:nvSpPr>
          <p:cNvPr id="9" name="Shape 5"/>
          <p:cNvSpPr/>
          <p:nvPr/>
        </p:nvSpPr>
        <p:spPr>
          <a:xfrm>
            <a:off x="4709160" y="1463040"/>
            <a:ext cx="420624" cy="420624"/>
          </a:xfrm>
          <a:prstGeom prst="ellipse">
            <a:avLst/>
          </a:prstGeom>
          <a:solidFill>
            <a:schemeClr val="accent5"/>
          </a:solidFill>
          <a:ln w="12700">
            <a:solidFill>
              <a:schemeClr val="accent5"/>
            </a:solidFill>
            <a:prstDash val="solid"/>
          </a:ln>
        </p:spPr>
      </p:sp>
      <p:pic>
        <p:nvPicPr>
          <p:cNvPr id="10" name="Image 1" descr="preencoded.png">    </p:cNvPr>
          <p:cNvPicPr>
            <a:picLocks noChangeAspect="1"/>
          </p:cNvPicPr>
          <p:nvPr/>
        </p:nvPicPr>
        <p:blipFill>
          <a:blip r:embed="rId2"/>
          <a:stretch>
            <a:fillRect/>
          </a:stretch>
        </p:blipFill>
        <p:spPr>
          <a:xfrm>
            <a:off x="4814316" y="1568196"/>
            <a:ext cx="210312" cy="210312"/>
          </a:xfrm>
          <a:prstGeom prst="rect">
            <a:avLst/>
          </a:prstGeom>
        </p:spPr>
      </p:pic>
      <p:sp>
        <p:nvSpPr>
          <p:cNvPr id="11" name="Text 6"/>
          <p:cNvSpPr txBox="1"/>
          <p:nvPr/>
        </p:nvSpPr>
        <p:spPr>
          <a:xfrm>
            <a:off x="5257800" y="1444752"/>
            <a:ext cx="3383280" cy="292608"/>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Struktur statt Volltext</a:t>
            </a:r>
            <a:endParaRPr lang="en-US" sz="1500" dirty="0"/>
          </a:p>
        </p:txBody>
      </p:sp>
      <p:sp>
        <p:nvSpPr>
          <p:cNvPr id="12" name="Text 7"/>
          <p:cNvSpPr txBox="1"/>
          <p:nvPr/>
        </p:nvSpPr>
        <p:spPr>
          <a:xfrm>
            <a:off x="5257800" y="1764792"/>
            <a:ext cx="3383280" cy="1005840"/>
          </a:xfrm>
          <a:prstGeom prst="rect">
            <a:avLst/>
          </a:prstGeom>
          <a:noFill/>
          <a:ln/>
        </p:spPr>
        <p:txBody>
          <a:bodyPr wrap="square" lIns="0" tIns="0" rIns="0" bIns="0" rtlCol="0" anchor="t"/>
          <a:lstStyle/>
          <a:p>
            <a:pPr algn="l" indent="0" marL="0">
              <a:buNone/>
            </a:pPr>
            <a:r>
              <a:rPr lang="en-US" sz="1150" dirty="0">
                <a:solidFill>
                  <a:schemeClr val="accent3"/>
                </a:solidFill>
              </a:rPr>
              <a:t>Jeder Bericht wird zum Vorgang: Thema, Stand, Verlauf durch die Gremien, Werte aus den Unterlagen. Regelbasiert und gemessen.</a:t>
            </a:r>
            <a:endParaRPr lang="en-US" sz="1150" dirty="0"/>
          </a:p>
        </p:txBody>
      </p:sp>
      <p:sp>
        <p:nvSpPr>
          <p:cNvPr id="13" name="Shape 8"/>
          <p:cNvSpPr/>
          <p:nvPr/>
        </p:nvSpPr>
        <p:spPr>
          <a:xfrm>
            <a:off x="457200" y="2971800"/>
            <a:ext cx="420624" cy="420624"/>
          </a:xfrm>
          <a:prstGeom prst="ellipse">
            <a:avLst/>
          </a:prstGeom>
          <a:solidFill>
            <a:schemeClr val="accent5"/>
          </a:solidFill>
          <a:ln w="12700">
            <a:solidFill>
              <a:schemeClr val="accent5"/>
            </a:solidFill>
            <a:prstDash val="solid"/>
          </a:ln>
        </p:spPr>
      </p:sp>
      <p:pic>
        <p:nvPicPr>
          <p:cNvPr id="14" name="Image 2" descr="preencoded.png">    </p:cNvPr>
          <p:cNvPicPr>
            <a:picLocks noChangeAspect="1"/>
          </p:cNvPicPr>
          <p:nvPr/>
        </p:nvPicPr>
        <p:blipFill>
          <a:blip r:embed="rId3"/>
          <a:stretch>
            <a:fillRect/>
          </a:stretch>
        </p:blipFill>
        <p:spPr>
          <a:xfrm>
            <a:off x="562356" y="3076956"/>
            <a:ext cx="210312" cy="210312"/>
          </a:xfrm>
          <a:prstGeom prst="rect">
            <a:avLst/>
          </a:prstGeom>
        </p:spPr>
      </p:pic>
      <p:sp>
        <p:nvSpPr>
          <p:cNvPr id="15" name="Text 9"/>
          <p:cNvSpPr txBox="1"/>
          <p:nvPr/>
        </p:nvSpPr>
        <p:spPr>
          <a:xfrm>
            <a:off x="1005840" y="2953512"/>
            <a:ext cx="3383280" cy="292608"/>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Belegbar</a:t>
            </a:r>
            <a:endParaRPr lang="en-US" sz="1500" dirty="0"/>
          </a:p>
        </p:txBody>
      </p:sp>
      <p:sp>
        <p:nvSpPr>
          <p:cNvPr id="16" name="Text 10"/>
          <p:cNvSpPr txBox="1"/>
          <p:nvPr/>
        </p:nvSpPr>
        <p:spPr>
          <a:xfrm>
            <a:off x="1005840" y="3273552"/>
            <a:ext cx="3383280" cy="1005840"/>
          </a:xfrm>
          <a:prstGeom prst="rect">
            <a:avLst/>
          </a:prstGeom>
          <a:noFill/>
          <a:ln/>
        </p:spPr>
        <p:txBody>
          <a:bodyPr wrap="square" lIns="0" tIns="0" rIns="0" bIns="0" rtlCol="0" anchor="t"/>
          <a:lstStyle/>
          <a:p>
            <a:pPr algn="l" indent="0" marL="0">
              <a:buNone/>
            </a:pPr>
            <a:r>
              <a:rPr lang="en-US" sz="1150" dirty="0">
                <a:solidFill>
                  <a:schemeClr val="accent3"/>
                </a:solidFill>
              </a:rPr>
              <a:t>Jede Zahl führt zur Originalquelle. Abdeckung und Grenzen werden offen gezeigt, vor dem Kauf.</a:t>
            </a:r>
            <a:endParaRPr lang="en-US" sz="1150" dirty="0"/>
          </a:p>
        </p:txBody>
      </p:sp>
      <p:sp>
        <p:nvSpPr>
          <p:cNvPr id="17" name="Shape 11"/>
          <p:cNvSpPr/>
          <p:nvPr/>
        </p:nvSpPr>
        <p:spPr>
          <a:xfrm>
            <a:off x="4709160" y="2971800"/>
            <a:ext cx="420624" cy="420624"/>
          </a:xfrm>
          <a:prstGeom prst="ellipse">
            <a:avLst/>
          </a:prstGeom>
          <a:solidFill>
            <a:schemeClr val="accent5"/>
          </a:solidFill>
          <a:ln w="12700">
            <a:solidFill>
              <a:schemeClr val="accent5"/>
            </a:solidFill>
            <a:prstDash val="solid"/>
          </a:ln>
        </p:spPr>
      </p:sp>
      <p:pic>
        <p:nvPicPr>
          <p:cNvPr id="18" name="Image 3" descr="preencoded.png">    </p:cNvPr>
          <p:cNvPicPr>
            <a:picLocks noChangeAspect="1"/>
          </p:cNvPicPr>
          <p:nvPr/>
        </p:nvPicPr>
        <p:blipFill>
          <a:blip r:embed="rId4"/>
          <a:stretch>
            <a:fillRect/>
          </a:stretch>
        </p:blipFill>
        <p:spPr>
          <a:xfrm>
            <a:off x="4814316" y="3076956"/>
            <a:ext cx="210312" cy="210312"/>
          </a:xfrm>
          <a:prstGeom prst="rect">
            <a:avLst/>
          </a:prstGeom>
        </p:spPr>
      </p:pic>
      <p:sp>
        <p:nvSpPr>
          <p:cNvPr id="19" name="Text 12"/>
          <p:cNvSpPr txBox="1"/>
          <p:nvPr/>
        </p:nvSpPr>
        <p:spPr>
          <a:xfrm>
            <a:off x="5257800" y="2953512"/>
            <a:ext cx="3383280" cy="292608"/>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Ein Portal</a:t>
            </a:r>
            <a:endParaRPr lang="en-US" sz="1500" dirty="0"/>
          </a:p>
        </p:txBody>
      </p:sp>
      <p:sp>
        <p:nvSpPr>
          <p:cNvPr id="20" name="Text 13"/>
          <p:cNvSpPr txBox="1"/>
          <p:nvPr/>
        </p:nvSpPr>
        <p:spPr>
          <a:xfrm>
            <a:off x="5257800" y="3273552"/>
            <a:ext cx="3383280" cy="1005840"/>
          </a:xfrm>
          <a:prstGeom prst="rect">
            <a:avLst/>
          </a:prstGeom>
          <a:noFill/>
          <a:ln/>
        </p:spPr>
        <p:txBody>
          <a:bodyPr wrap="square" lIns="0" tIns="0" rIns="0" bIns="0" rtlCol="0" anchor="t"/>
          <a:lstStyle/>
          <a:p>
            <a:pPr algn="l" indent="0" marL="0">
              <a:buNone/>
            </a:pPr>
            <a:r>
              <a:rPr lang="en-US" sz="1150" dirty="0">
                <a:solidFill>
                  <a:schemeClr val="accent3"/>
                </a:solidFill>
              </a:rPr>
              <a:t>Suche, Alarme und Analysen aus einem Bestand. Jede neue Auswertung nutzt denselben Weg, ohne neues Datenmodell.</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WARUM JETZT</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Drei Gründe</a:t>
            </a:r>
            <a:endParaRPr lang="en-US" sz="2400" dirty="0"/>
          </a:p>
        </p:txBody>
      </p:sp>
      <p:sp>
        <p:nvSpPr>
          <p:cNvPr id="5" name="Shape 2"/>
          <p:cNvSpPr/>
          <p:nvPr/>
        </p:nvSpPr>
        <p:spPr>
          <a:xfrm>
            <a:off x="457200" y="1463040"/>
            <a:ext cx="457200" cy="457200"/>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571500" y="1577340"/>
            <a:ext cx="228600" cy="228600"/>
          </a:xfrm>
          <a:prstGeom prst="rect">
            <a:avLst/>
          </a:prstGeom>
        </p:spPr>
      </p:pic>
      <p:sp>
        <p:nvSpPr>
          <p:cNvPr id="7" name="Text 3"/>
          <p:cNvSpPr txBox="1"/>
          <p:nvPr/>
        </p:nvSpPr>
        <p:spPr>
          <a:xfrm>
            <a:off x="45720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Die Nachfrage ist da</a:t>
            </a:r>
            <a:endParaRPr lang="en-US" sz="1600" dirty="0"/>
          </a:p>
        </p:txBody>
      </p:sp>
      <p:sp>
        <p:nvSpPr>
          <p:cNvPr id="8" name="Text 4"/>
          <p:cNvSpPr txBox="1"/>
          <p:nvPr/>
        </p:nvSpPr>
        <p:spPr>
          <a:xfrm>
            <a:off x="457200" y="2420112"/>
            <a:ext cx="2560320" cy="1950720"/>
          </a:xfrm>
          <a:prstGeom prst="rect">
            <a:avLst/>
          </a:prstGeom>
          <a:noFill/>
          <a:ln/>
        </p:spPr>
        <p:txBody>
          <a:bodyPr wrap="square" lIns="0" tIns="0" rIns="0" bIns="0" rtlCol="0" anchor="t"/>
          <a:lstStyle/>
          <a:p>
            <a:pPr algn="l" indent="0" marL="0">
              <a:buNone/>
            </a:pPr>
            <a:r>
              <a:rPr lang="en-US" sz="1200" dirty="0">
                <a:solidFill>
                  <a:schemeClr val="accent3"/>
                </a:solidFill>
              </a:rPr>
              <a:t>Wind, Solar, Speicher, Wärmeplanung, Glasfaser: Jede Fläche und jeder Auftrag beginnt mit einem Ratsbeschluss. 2.499 Kommunen haben allein Photovoltaik in einem Jahr neu beraten.</a:t>
            </a:r>
            <a:endParaRPr lang="en-US" sz="1200" dirty="0"/>
          </a:p>
        </p:txBody>
      </p:sp>
      <p:sp>
        <p:nvSpPr>
          <p:cNvPr id="9" name="Shape 5"/>
          <p:cNvSpPr/>
          <p:nvPr/>
        </p:nvSpPr>
        <p:spPr>
          <a:xfrm>
            <a:off x="3291840" y="1463040"/>
            <a:ext cx="457200" cy="457200"/>
          </a:xfrm>
          <a:prstGeom prst="ellipse">
            <a:avLst/>
          </a:prstGeom>
          <a:solidFill>
            <a:schemeClr val="accent5"/>
          </a:solidFill>
          <a:ln w="12700">
            <a:solidFill>
              <a:schemeClr val="accent5"/>
            </a:solidFill>
            <a:prstDash val="solid"/>
          </a:ln>
        </p:spPr>
      </p:sp>
      <p:pic>
        <p:nvPicPr>
          <p:cNvPr id="10" name="Image 1" descr="preencoded.png">    </p:cNvPr>
          <p:cNvPicPr>
            <a:picLocks noChangeAspect="1"/>
          </p:cNvPicPr>
          <p:nvPr/>
        </p:nvPicPr>
        <p:blipFill>
          <a:blip r:embed="rId2"/>
          <a:stretch>
            <a:fillRect/>
          </a:stretch>
        </p:blipFill>
        <p:spPr>
          <a:xfrm>
            <a:off x="3406140" y="1577340"/>
            <a:ext cx="228600" cy="228600"/>
          </a:xfrm>
          <a:prstGeom prst="rect">
            <a:avLst/>
          </a:prstGeom>
        </p:spPr>
      </p:pic>
      <p:sp>
        <p:nvSpPr>
          <p:cNvPr id="11" name="Text 6"/>
          <p:cNvSpPr txBox="1"/>
          <p:nvPr/>
        </p:nvSpPr>
        <p:spPr>
          <a:xfrm>
            <a:off x="329184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Die Quellen sind offen</a:t>
            </a:r>
            <a:endParaRPr lang="en-US" sz="1600" dirty="0"/>
          </a:p>
        </p:txBody>
      </p:sp>
      <p:sp>
        <p:nvSpPr>
          <p:cNvPr id="12" name="Text 7"/>
          <p:cNvSpPr txBox="1"/>
          <p:nvPr/>
        </p:nvSpPr>
        <p:spPr>
          <a:xfrm>
            <a:off x="3291840" y="2420112"/>
            <a:ext cx="2560320" cy="1950720"/>
          </a:xfrm>
          <a:prstGeom prst="rect">
            <a:avLst/>
          </a:prstGeom>
          <a:noFill/>
          <a:ln/>
        </p:spPr>
        <p:txBody>
          <a:bodyPr wrap="square" lIns="0" tIns="0" rIns="0" bIns="0" rtlCol="0" anchor="t"/>
          <a:lstStyle/>
          <a:p>
            <a:pPr algn="l" indent="0" marL="0">
              <a:buNone/>
            </a:pPr>
            <a:r>
              <a:rPr lang="en-US" sz="1200" dirty="0">
                <a:solidFill>
                  <a:schemeClr val="accent3"/>
                </a:solidFill>
              </a:rPr>
              <a:t>Ratsinformationssysteme sind flächendeckend online, ein Teil davon mit offener Schnittstelle. Unterlagen sind öffentliche Dokumente.</a:t>
            </a:r>
            <a:endParaRPr lang="en-US" sz="1200" dirty="0"/>
          </a:p>
        </p:txBody>
      </p:sp>
      <p:sp>
        <p:nvSpPr>
          <p:cNvPr id="13" name="Shape 8"/>
          <p:cNvSpPr/>
          <p:nvPr/>
        </p:nvSpPr>
        <p:spPr>
          <a:xfrm>
            <a:off x="6126480" y="1463040"/>
            <a:ext cx="457200" cy="457200"/>
          </a:xfrm>
          <a:prstGeom prst="ellipse">
            <a:avLst/>
          </a:prstGeom>
          <a:solidFill>
            <a:schemeClr val="accent5"/>
          </a:solidFill>
          <a:ln w="12700">
            <a:solidFill>
              <a:schemeClr val="accent5"/>
            </a:solidFill>
            <a:prstDash val="solid"/>
          </a:ln>
        </p:spPr>
      </p:sp>
      <p:pic>
        <p:nvPicPr>
          <p:cNvPr id="14" name="Image 2" descr="preencoded.png">    </p:cNvPr>
          <p:cNvPicPr>
            <a:picLocks noChangeAspect="1"/>
          </p:cNvPicPr>
          <p:nvPr/>
        </p:nvPicPr>
        <p:blipFill>
          <a:blip r:embed="rId3"/>
          <a:stretch>
            <a:fillRect/>
          </a:stretch>
        </p:blipFill>
        <p:spPr>
          <a:xfrm>
            <a:off x="6240780" y="1577340"/>
            <a:ext cx="228600" cy="228600"/>
          </a:xfrm>
          <a:prstGeom prst="rect">
            <a:avLst/>
          </a:prstGeom>
        </p:spPr>
      </p:pic>
      <p:sp>
        <p:nvSpPr>
          <p:cNvPr id="15" name="Text 9"/>
          <p:cNvSpPr txBox="1"/>
          <p:nvPr/>
        </p:nvSpPr>
        <p:spPr>
          <a:xfrm>
            <a:off x="6126480" y="2103120"/>
            <a:ext cx="2560320" cy="262128"/>
          </a:xfrm>
          <a:prstGeom prst="rect">
            <a:avLst/>
          </a:prstGeom>
          <a:noFill/>
          <a:ln/>
        </p:spPr>
        <p:txBody>
          <a:bodyPr wrap="square" lIns="0" tIns="0" rIns="0" bIns="0" rtlCol="0" anchor="t"/>
          <a:lstStyle/>
          <a:p>
            <a:pPr algn="l" indent="0" marL="0">
              <a:buNone/>
            </a:pPr>
            <a:r>
              <a:rPr lang="en-US" sz="1600" dirty="0">
                <a:solidFill>
                  <a:schemeClr val="tx1"/>
                </a:solidFill>
                <a:latin typeface="IBM Plex Sans SmBld" pitchFamily="34" charset="0"/>
                <a:ea typeface="IBM Plex Sans SmBld" pitchFamily="34" charset="-122"/>
                <a:cs typeface="IBM Plex Sans SmBld" pitchFamily="34" charset="-120"/>
              </a:rPr>
              <a:t>Der Bestand steht</a:t>
            </a:r>
            <a:endParaRPr lang="en-US" sz="1600" dirty="0"/>
          </a:p>
        </p:txBody>
      </p:sp>
      <p:sp>
        <p:nvSpPr>
          <p:cNvPr id="16" name="Text 10"/>
          <p:cNvSpPr txBox="1"/>
          <p:nvPr/>
        </p:nvSpPr>
        <p:spPr>
          <a:xfrm>
            <a:off x="6126480" y="2420112"/>
            <a:ext cx="2560320" cy="1950720"/>
          </a:xfrm>
          <a:prstGeom prst="rect">
            <a:avLst/>
          </a:prstGeom>
          <a:noFill/>
          <a:ln/>
        </p:spPr>
        <p:txBody>
          <a:bodyPr wrap="square" lIns="0" tIns="0" rIns="0" bIns="0" rtlCol="0" anchor="t"/>
          <a:lstStyle/>
          <a:p>
            <a:pPr algn="l" indent="0" marL="0">
              <a:buNone/>
            </a:pPr>
            <a:r>
              <a:rPr lang="en-US" sz="1200" dirty="0">
                <a:solidFill>
                  <a:schemeClr val="accent3"/>
                </a:solidFill>
              </a:rPr>
              <a:t>1,39 Millionen Berichte, laufend aktualisiert, strukturiert und belegbar. Was fehlt, ist Vertrieb, nicht Technik.</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1" type="body" hasCustomPrompt="1"/>
          </p:nvPr>
        </p:nvSpPr>
        <p:spPr>
          <a:xfrm>
            <a:off x="457200" y="384048"/>
            <a:ext cx="8229600" cy="228600"/>
          </a:xfrm>
          <a:prstGeom prst="rect">
            <a:avLst/>
          </a:prstGeom>
          <a:noFill/>
          <a:ln/>
        </p:spPr>
        <p:txBody>
          <a:bodyPr wrap="square" lIns="0" tIns="0" rIns="0" bIns="0" rtlCol="0" anchor="t"/>
          <a:lstStyle/>
          <a:p>
            <a:pPr indent="0" marL="0">
              <a:buNone/>
            </a:pPr>
            <a:r>
              <a:rPr lang="en-US" sz="1000" spc="200" kern="0" dirty="0">
                <a:solidFill>
                  <a:schemeClr val="accent2"/>
                </a:solidFill>
                <a:latin typeface="IBM Plex Sans SmBld" pitchFamily="34" charset="0"/>
                <a:ea typeface="IBM Plex Sans SmBld" pitchFamily="34" charset="-122"/>
                <a:cs typeface="IBM Plex Sans SmBld" pitchFamily="34" charset="-120"/>
              </a:rPr>
              <a:t>NÄCHSTE SCHRITTE</a:t>
            </a:r>
            <a:endParaRPr lang="en-US" sz="1000" dirty="0"/>
          </a:p>
        </p:txBody>
      </p:sp>
      <p:sp>
        <p:nvSpPr>
          <p:cNvPr id="4" name="Text 0"/>
          <p:cNvSpPr/>
          <p:nvPr>
            <p:ph idx="102" type="title" hasCustomPrompt="1"/>
          </p:nvPr>
        </p:nvSpPr>
        <p:spPr>
          <a:xfrm>
            <a:off x="457200" y="621792"/>
            <a:ext cx="8229600" cy="548640"/>
          </a:xfrm>
          <a:prstGeom prst="rect">
            <a:avLst/>
          </a:prstGeom>
          <a:noFill/>
          <a:ln/>
        </p:spPr>
        <p:txBody>
          <a:bodyPr wrap="square" lIns="0" tIns="0" rIns="0" bIns="0" rtlCol="0" anchor="t"/>
          <a:lstStyle/>
          <a:p>
            <a:pPr indent="0" marL="0">
              <a:buNone/>
            </a:pPr>
            <a:r>
              <a:rPr lang="en-US" sz="2400" dirty="0">
                <a:solidFill>
                  <a:schemeClr val="tx1"/>
                </a:solidFill>
              </a:rPr>
              <a:t>Vom Datenbestand zum Umsatz</a:t>
            </a:r>
            <a:endParaRPr lang="en-US" sz="2400" dirty="0"/>
          </a:p>
        </p:txBody>
      </p:sp>
      <p:sp>
        <p:nvSpPr>
          <p:cNvPr id="5" name="Shape 2"/>
          <p:cNvSpPr/>
          <p:nvPr/>
        </p:nvSpPr>
        <p:spPr>
          <a:xfrm>
            <a:off x="457200" y="1463040"/>
            <a:ext cx="2651760" cy="2286000"/>
          </a:xfrm>
          <a:prstGeom prst="roundRect">
            <a:avLst>
              <a:gd name="adj" fmla="val 4000"/>
            </a:avLst>
          </a:prstGeom>
          <a:solidFill>
            <a:schemeClr val="bg2"/>
          </a:solidFill>
          <a:ln w="9525">
            <a:solidFill>
              <a:schemeClr val="accent6"/>
            </a:solidFill>
            <a:prstDash val="solid"/>
          </a:ln>
        </p:spPr>
      </p:sp>
      <p:sp>
        <p:nvSpPr>
          <p:cNvPr id="6" name="Shape 3"/>
          <p:cNvSpPr/>
          <p:nvPr/>
        </p:nvSpPr>
        <p:spPr>
          <a:xfrm>
            <a:off x="685800" y="169164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685800" y="1691640"/>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IBM Plex Sans SmBld" pitchFamily="34" charset="0"/>
                <a:ea typeface="IBM Plex Sans SmBld" pitchFamily="34" charset="-122"/>
                <a:cs typeface="IBM Plex Sans SmBld" pitchFamily="34" charset="-120"/>
              </a:rPr>
              <a:t>1</a:t>
            </a:r>
            <a:endParaRPr lang="en-US" sz="1600" dirty="0"/>
          </a:p>
        </p:txBody>
      </p:sp>
      <p:sp>
        <p:nvSpPr>
          <p:cNvPr id="8" name="Text 5"/>
          <p:cNvSpPr txBox="1"/>
          <p:nvPr/>
        </p:nvSpPr>
        <p:spPr>
          <a:xfrm>
            <a:off x="1280160" y="1737360"/>
            <a:ext cx="1645920" cy="228600"/>
          </a:xfrm>
          <a:prstGeom prst="rect">
            <a:avLst/>
          </a:prstGeom>
          <a:noFill/>
          <a:ln/>
        </p:spPr>
        <p:txBody>
          <a:bodyPr wrap="square" lIns="0" tIns="0" rIns="0" bIns="0" rtlCol="0" anchor="t"/>
          <a:lstStyle/>
          <a:p>
            <a:pPr algn="l" indent="0" marL="0">
              <a:buNone/>
            </a:pPr>
            <a:r>
              <a:rPr lang="en-US" sz="1000" dirty="0">
                <a:solidFill>
                  <a:schemeClr val="accent3"/>
                </a:solidFill>
              </a:rPr>
              <a:t>Monat 1 bis 3</a:t>
            </a:r>
            <a:endParaRPr lang="en-US" sz="1000" dirty="0"/>
          </a:p>
        </p:txBody>
      </p:sp>
      <p:sp>
        <p:nvSpPr>
          <p:cNvPr id="9" name="Text 6"/>
          <p:cNvSpPr txBox="1"/>
          <p:nvPr/>
        </p:nvSpPr>
        <p:spPr>
          <a:xfrm>
            <a:off x="1280160" y="1920240"/>
            <a:ext cx="1645920" cy="274320"/>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Fundament</a:t>
            </a:r>
            <a:endParaRPr lang="en-US" sz="1500" dirty="0"/>
          </a:p>
        </p:txBody>
      </p:sp>
      <p:sp>
        <p:nvSpPr>
          <p:cNvPr id="10" name="Text 7"/>
          <p:cNvSpPr txBox="1"/>
          <p:nvPr/>
        </p:nvSpPr>
        <p:spPr>
          <a:xfrm>
            <a:off x="685800" y="2423160"/>
            <a:ext cx="2194560" cy="1280160"/>
          </a:xfrm>
          <a:prstGeom prst="rect">
            <a:avLst/>
          </a:prstGeom>
          <a:noFill/>
          <a:ln/>
        </p:spPr>
        <p:txBody>
          <a:bodyPr wrap="square" lIns="0" tIns="0" rIns="0" bIns="0" rtlCol="0" anchor="t"/>
          <a:lstStyle/>
          <a:p>
            <a:pPr algn="l" indent="0" marL="0">
              <a:buNone/>
            </a:pPr>
            <a:r>
              <a:rPr lang="en-US" sz="1150" dirty="0">
                <a:solidFill>
                  <a:schemeClr val="accent3"/>
                </a:solidFill>
              </a:rPr>
              <a:t>Konten, Alarme und Preise live. Zielregionen ohne Lücken. 100 persönliche Kontakte, 10 Demos, erste Pilotrechnungen.</a:t>
            </a:r>
            <a:endParaRPr lang="en-US" sz="1150" dirty="0"/>
          </a:p>
        </p:txBody>
      </p:sp>
      <p:sp>
        <p:nvSpPr>
          <p:cNvPr id="11" name="Shape 8"/>
          <p:cNvSpPr/>
          <p:nvPr/>
        </p:nvSpPr>
        <p:spPr>
          <a:xfrm>
            <a:off x="3246120" y="1463040"/>
            <a:ext cx="2651760" cy="2286000"/>
          </a:xfrm>
          <a:prstGeom prst="roundRect">
            <a:avLst>
              <a:gd name="adj" fmla="val 4000"/>
            </a:avLst>
          </a:prstGeom>
          <a:solidFill>
            <a:schemeClr val="bg2"/>
          </a:solidFill>
          <a:ln w="9525">
            <a:solidFill>
              <a:schemeClr val="accent6"/>
            </a:solidFill>
            <a:prstDash val="solid"/>
          </a:ln>
        </p:spPr>
      </p:sp>
      <p:sp>
        <p:nvSpPr>
          <p:cNvPr id="12" name="Shape 9"/>
          <p:cNvSpPr/>
          <p:nvPr/>
        </p:nvSpPr>
        <p:spPr>
          <a:xfrm>
            <a:off x="3474720" y="169164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3474720" y="1691640"/>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IBM Plex Sans SmBld" pitchFamily="34" charset="0"/>
                <a:ea typeface="IBM Plex Sans SmBld" pitchFamily="34" charset="-122"/>
                <a:cs typeface="IBM Plex Sans SmBld" pitchFamily="34" charset="-120"/>
              </a:rPr>
              <a:t>2</a:t>
            </a:r>
            <a:endParaRPr lang="en-US" sz="1600" dirty="0"/>
          </a:p>
        </p:txBody>
      </p:sp>
      <p:sp>
        <p:nvSpPr>
          <p:cNvPr id="14" name="Text 11"/>
          <p:cNvSpPr txBox="1"/>
          <p:nvPr/>
        </p:nvSpPr>
        <p:spPr>
          <a:xfrm>
            <a:off x="4069080" y="1737360"/>
            <a:ext cx="1645920" cy="228600"/>
          </a:xfrm>
          <a:prstGeom prst="rect">
            <a:avLst/>
          </a:prstGeom>
          <a:noFill/>
          <a:ln/>
        </p:spPr>
        <p:txBody>
          <a:bodyPr wrap="square" lIns="0" tIns="0" rIns="0" bIns="0" rtlCol="0" anchor="t"/>
          <a:lstStyle/>
          <a:p>
            <a:pPr algn="l" indent="0" marL="0">
              <a:buNone/>
            </a:pPr>
            <a:r>
              <a:rPr lang="en-US" sz="1000" dirty="0">
                <a:solidFill>
                  <a:schemeClr val="accent3"/>
                </a:solidFill>
              </a:rPr>
              <a:t>Monat 4 bis 9</a:t>
            </a:r>
            <a:endParaRPr lang="en-US" sz="1000" dirty="0"/>
          </a:p>
        </p:txBody>
      </p:sp>
      <p:sp>
        <p:nvSpPr>
          <p:cNvPr id="15" name="Text 12"/>
          <p:cNvSpPr txBox="1"/>
          <p:nvPr/>
        </p:nvSpPr>
        <p:spPr>
          <a:xfrm>
            <a:off x="4069080" y="1920240"/>
            <a:ext cx="1645920" cy="274320"/>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Kunden</a:t>
            </a:r>
            <a:endParaRPr lang="en-US" sz="1500" dirty="0"/>
          </a:p>
        </p:txBody>
      </p:sp>
      <p:sp>
        <p:nvSpPr>
          <p:cNvPr id="16" name="Text 13"/>
          <p:cNvSpPr txBox="1"/>
          <p:nvPr/>
        </p:nvSpPr>
        <p:spPr>
          <a:xfrm>
            <a:off x="3474720" y="2423160"/>
            <a:ext cx="2194560" cy="1280160"/>
          </a:xfrm>
          <a:prstGeom prst="rect">
            <a:avLst/>
          </a:prstGeom>
          <a:noFill/>
          <a:ln/>
        </p:spPr>
        <p:txBody>
          <a:bodyPr wrap="square" lIns="0" tIns="0" rIns="0" bIns="0" rtlCol="0" anchor="t"/>
          <a:lstStyle/>
          <a:p>
            <a:pPr algn="l" indent="0" marL="0">
              <a:buNone/>
            </a:pPr>
            <a:r>
              <a:rPr lang="en-US" sz="1150" dirty="0">
                <a:solidFill>
                  <a:schemeClr val="accent3"/>
                </a:solidFill>
              </a:rPr>
              <a:t>Piloten werden Kunden, Self-Service-Abschluss ohne Gespräch. Ziel: 8 bis 10 zahlende Kunden.</a:t>
            </a:r>
            <a:endParaRPr lang="en-US" sz="1150" dirty="0"/>
          </a:p>
        </p:txBody>
      </p:sp>
      <p:sp>
        <p:nvSpPr>
          <p:cNvPr id="17" name="Shape 14"/>
          <p:cNvSpPr/>
          <p:nvPr/>
        </p:nvSpPr>
        <p:spPr>
          <a:xfrm>
            <a:off x="6035040" y="1463040"/>
            <a:ext cx="2651760" cy="2286000"/>
          </a:xfrm>
          <a:prstGeom prst="roundRect">
            <a:avLst>
              <a:gd name="adj" fmla="val 4000"/>
            </a:avLst>
          </a:prstGeom>
          <a:solidFill>
            <a:schemeClr val="bg2"/>
          </a:solidFill>
          <a:ln w="9525">
            <a:solidFill>
              <a:schemeClr val="accent6"/>
            </a:solidFill>
            <a:prstDash val="solid"/>
          </a:ln>
        </p:spPr>
      </p:sp>
      <p:sp>
        <p:nvSpPr>
          <p:cNvPr id="18" name="Shape 15"/>
          <p:cNvSpPr/>
          <p:nvPr/>
        </p:nvSpPr>
        <p:spPr>
          <a:xfrm>
            <a:off x="6263640" y="1691640"/>
            <a:ext cx="457200" cy="457200"/>
          </a:xfrm>
          <a:prstGeom prst="ellipse">
            <a:avLst/>
          </a:prstGeom>
          <a:solidFill>
            <a:schemeClr val="accent1"/>
          </a:solidFill>
          <a:ln w="12700">
            <a:solidFill>
              <a:schemeClr val="accent1"/>
            </a:solidFill>
            <a:prstDash val="solid"/>
          </a:ln>
        </p:spPr>
      </p:sp>
      <p:sp>
        <p:nvSpPr>
          <p:cNvPr id="19" name="Text 16"/>
          <p:cNvSpPr txBox="1"/>
          <p:nvPr/>
        </p:nvSpPr>
        <p:spPr>
          <a:xfrm>
            <a:off x="6263640" y="1691640"/>
            <a:ext cx="457200" cy="457200"/>
          </a:xfrm>
          <a:prstGeom prst="rect">
            <a:avLst/>
          </a:prstGeom>
          <a:noFill/>
          <a:ln/>
        </p:spPr>
        <p:txBody>
          <a:bodyPr wrap="square" lIns="0" tIns="0" rIns="0" bIns="0" rtlCol="0" anchor="ctr"/>
          <a:lstStyle/>
          <a:p>
            <a:pPr algn="ctr" indent="0" marL="0">
              <a:buNone/>
            </a:pPr>
            <a:r>
              <a:rPr lang="en-US" sz="1600" dirty="0">
                <a:solidFill>
                  <a:schemeClr val="bg1"/>
                </a:solidFill>
                <a:latin typeface="IBM Plex Sans SmBld" pitchFamily="34" charset="0"/>
                <a:ea typeface="IBM Plex Sans SmBld" pitchFamily="34" charset="-122"/>
                <a:cs typeface="IBM Plex Sans SmBld" pitchFamily="34" charset="-120"/>
              </a:rPr>
              <a:t>3</a:t>
            </a:r>
            <a:endParaRPr lang="en-US" sz="1600" dirty="0"/>
          </a:p>
        </p:txBody>
      </p:sp>
      <p:sp>
        <p:nvSpPr>
          <p:cNvPr id="20" name="Text 17"/>
          <p:cNvSpPr txBox="1"/>
          <p:nvPr/>
        </p:nvSpPr>
        <p:spPr>
          <a:xfrm>
            <a:off x="6858000" y="1737360"/>
            <a:ext cx="1645920" cy="228600"/>
          </a:xfrm>
          <a:prstGeom prst="rect">
            <a:avLst/>
          </a:prstGeom>
          <a:noFill/>
          <a:ln/>
        </p:spPr>
        <p:txBody>
          <a:bodyPr wrap="square" lIns="0" tIns="0" rIns="0" bIns="0" rtlCol="0" anchor="t"/>
          <a:lstStyle/>
          <a:p>
            <a:pPr algn="l" indent="0" marL="0">
              <a:buNone/>
            </a:pPr>
            <a:r>
              <a:rPr lang="en-US" sz="1000" dirty="0">
                <a:solidFill>
                  <a:schemeClr val="accent3"/>
                </a:solidFill>
              </a:rPr>
              <a:t>Monat 10 bis 18</a:t>
            </a:r>
            <a:endParaRPr lang="en-US" sz="1000" dirty="0"/>
          </a:p>
        </p:txBody>
      </p:sp>
      <p:sp>
        <p:nvSpPr>
          <p:cNvPr id="21" name="Text 18"/>
          <p:cNvSpPr txBox="1"/>
          <p:nvPr/>
        </p:nvSpPr>
        <p:spPr>
          <a:xfrm>
            <a:off x="6858000" y="1920240"/>
            <a:ext cx="1645920" cy="274320"/>
          </a:xfrm>
          <a:prstGeom prst="rect">
            <a:avLst/>
          </a:prstGeom>
          <a:noFill/>
          <a:ln/>
        </p:spPr>
        <p:txBody>
          <a:bodyPr wrap="square" lIns="0" tIns="0" rIns="0" bIns="0" rtlCol="0" anchor="t"/>
          <a:lstStyle/>
          <a:p>
            <a:pPr algn="l" indent="0" marL="0">
              <a:buNone/>
            </a:pPr>
            <a:r>
              <a:rPr lang="en-US" sz="1500" dirty="0">
                <a:solidFill>
                  <a:schemeClr val="tx1"/>
                </a:solidFill>
                <a:latin typeface="IBM Plex Sans SmBld" pitchFamily="34" charset="0"/>
                <a:ea typeface="IBM Plex Sans SmBld" pitchFamily="34" charset="-122"/>
                <a:cs typeface="IBM Plex Sans SmBld" pitchFamily="34" charset="-120"/>
              </a:rPr>
              <a:t>Skalierung</a:t>
            </a:r>
            <a:endParaRPr lang="en-US" sz="1500" dirty="0"/>
          </a:p>
        </p:txBody>
      </p:sp>
      <p:sp>
        <p:nvSpPr>
          <p:cNvPr id="22" name="Text 19"/>
          <p:cNvSpPr txBox="1"/>
          <p:nvPr/>
        </p:nvSpPr>
        <p:spPr>
          <a:xfrm>
            <a:off x="6263640" y="2423160"/>
            <a:ext cx="2194560" cy="1280160"/>
          </a:xfrm>
          <a:prstGeom prst="rect">
            <a:avLst/>
          </a:prstGeom>
          <a:noFill/>
          <a:ln/>
        </p:spPr>
        <p:txBody>
          <a:bodyPr wrap="square" lIns="0" tIns="0" rIns="0" bIns="0" rtlCol="0" anchor="t"/>
          <a:lstStyle/>
          <a:p>
            <a:pPr algn="l" indent="0" marL="0">
              <a:buNone/>
            </a:pPr>
            <a:r>
              <a:rPr lang="en-US" sz="1150" dirty="0">
                <a:solidFill>
                  <a:schemeClr val="accent3"/>
                </a:solidFill>
              </a:rPr>
              <a:t>Daten-Feed an Nicht-Wettbewerber, weitere Segmente und Regionen, Enterprise mit plenara.X.</a:t>
            </a:r>
            <a:endParaRPr lang="en-US" sz="1150" dirty="0"/>
          </a:p>
        </p:txBody>
      </p:sp>
      <p:sp>
        <p:nvSpPr>
          <p:cNvPr id="23" name="Text 20"/>
          <p:cNvSpPr txBox="1"/>
          <p:nvPr/>
        </p:nvSpPr>
        <p:spPr>
          <a:xfrm>
            <a:off x="457200" y="3977640"/>
            <a:ext cx="8229600" cy="457200"/>
          </a:xfrm>
          <a:prstGeom prst="rect">
            <a:avLst/>
          </a:prstGeom>
          <a:noFill/>
          <a:ln/>
        </p:spPr>
        <p:txBody>
          <a:bodyPr wrap="square" lIns="0" tIns="0" rIns="0" bIns="0" rtlCol="0" anchor="t"/>
          <a:lstStyle/>
          <a:p>
            <a:pPr algn="l" indent="0" marL="0">
              <a:buNone/>
            </a:pPr>
            <a:r>
              <a:rPr lang="en-US" sz="1050" dirty="0">
                <a:solidFill>
                  <a:schemeClr val="accent3"/>
                </a:solidFill>
              </a:rPr>
              <a:t>Plan, Stand 02.10.26. Messgrößen je Phase: Demos, Pilotrechnungen, zahlende Kunden, monatlich wiederkehrender Umsatz.</a:t>
            </a:r>
            <a:endParaRPr lang="en-US" sz="10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685800" y="960120"/>
            <a:ext cx="2926080" cy="1085088"/>
          </a:xfrm>
          <a:prstGeom prst="rect">
            <a:avLst/>
          </a:prstGeom>
        </p:spPr>
      </p:pic>
      <p:sp>
        <p:nvSpPr>
          <p:cNvPr id="4" name="Text 0"/>
          <p:cNvSpPr txBox="1"/>
          <p:nvPr/>
        </p:nvSpPr>
        <p:spPr>
          <a:xfrm>
            <a:off x="731520" y="2286000"/>
            <a:ext cx="7680960" cy="1188720"/>
          </a:xfrm>
          <a:prstGeom prst="rect">
            <a:avLst/>
          </a:prstGeom>
          <a:noFill/>
          <a:ln/>
        </p:spPr>
        <p:txBody>
          <a:bodyPr wrap="square" lIns="0" tIns="0" rIns="0" bIns="0" rtlCol="0" anchor="t"/>
          <a:lstStyle/>
          <a:p>
            <a:pPr algn="l" indent="0" marL="0">
              <a:buNone/>
            </a:pPr>
            <a:r>
              <a:rPr lang="en-US" sz="3200" dirty="0">
                <a:solidFill>
                  <a:schemeClr val="bg1"/>
                </a:solidFill>
                <a:latin typeface="IBM Plex Sans SmBld" pitchFamily="34" charset="0"/>
                <a:ea typeface="IBM Plex Sans SmBld" pitchFamily="34" charset="-122"/>
                <a:cs typeface="IBM Plex Sans SmBld" pitchFamily="34" charset="-120"/>
              </a:rPr>
              <a:t>Besser verstehen,</a:t>
            </a:r>
            <a:endParaRPr lang="en-US" sz="3200" dirty="0"/>
          </a:p>
          <a:p>
            <a:pPr algn="l" indent="0" marL="0">
              <a:buNone/>
            </a:pPr>
            <a:r>
              <a:rPr lang="en-US" sz="3200" dirty="0">
                <a:solidFill>
                  <a:schemeClr val="bg1"/>
                </a:solidFill>
                <a:latin typeface="IBM Plex Sans SmBld" pitchFamily="34" charset="0"/>
                <a:ea typeface="IBM Plex Sans SmBld" pitchFamily="34" charset="-122"/>
                <a:cs typeface="IBM Plex Sans SmBld" pitchFamily="34" charset="-120"/>
              </a:rPr>
              <a:t>was vor Ort beraten wird.</a:t>
            </a:r>
            <a:endParaRPr lang="en-US" sz="3200" dirty="0"/>
          </a:p>
        </p:txBody>
      </p:sp>
      <p:sp>
        <p:nvSpPr>
          <p:cNvPr id="5" name="Text 1"/>
          <p:cNvSpPr txBox="1"/>
          <p:nvPr/>
        </p:nvSpPr>
        <p:spPr>
          <a:xfrm>
            <a:off x="731520" y="3611880"/>
            <a:ext cx="7680960" cy="365760"/>
          </a:xfrm>
          <a:prstGeom prst="rect">
            <a:avLst/>
          </a:prstGeom>
          <a:noFill/>
          <a:ln/>
        </p:spPr>
        <p:txBody>
          <a:bodyPr wrap="square" lIns="0" tIns="0" rIns="0" bIns="0" rtlCol="0" anchor="t"/>
          <a:lstStyle/>
          <a:p>
            <a:pPr algn="l" indent="0" marL="0">
              <a:buNone/>
            </a:pPr>
            <a:r>
              <a:rPr lang="en-US" sz="1600" dirty="0">
                <a:solidFill>
                  <a:schemeClr val="accent1"/>
                </a:solidFill>
                <a:latin typeface="IBM Plex Sans SmBld" pitchFamily="34" charset="0"/>
                <a:ea typeface="IBM Plex Sans SmBld" pitchFamily="34" charset="-122"/>
                <a:cs typeface="IBM Plex Sans SmBld" pitchFamily="34" charset="-120"/>
              </a:rPr>
              <a:t>Max Espelkott  ·  www.plenara.de</a:t>
            </a:r>
            <a:endParaRPr lang="en-US" sz="1600" dirty="0"/>
          </a:p>
        </p:txBody>
      </p:sp>
      <p:sp>
        <p:nvSpPr>
          <p:cNvPr id="6" name="Text 2"/>
          <p:cNvSpPr txBox="1"/>
          <p:nvPr/>
        </p:nvSpPr>
        <p:spPr>
          <a:xfrm>
            <a:off x="731520" y="4069080"/>
            <a:ext cx="6858000" cy="548640"/>
          </a:xfrm>
          <a:prstGeom prst="rect">
            <a:avLst/>
          </a:prstGeom>
          <a:noFill/>
          <a:ln/>
        </p:spPr>
        <p:txBody>
          <a:bodyPr wrap="square" lIns="0" tIns="0" rIns="0" bIns="0" rtlCol="0" anchor="t"/>
          <a:lstStyle/>
          <a:p>
            <a:pPr algn="l" indent="0" marL="0">
              <a:buNone/>
            </a:pPr>
            <a:r>
              <a:rPr lang="en-US" sz="1100" dirty="0">
                <a:solidFill>
                  <a:schemeClr val="accent4"/>
                </a:solidFill>
              </a:rPr>
              <a:t>Suche und Karte sind ohne Anmeldung offen: plenara.de. Alle Zahlen dieser Präsentation stammen von der Seite selbst (Stand 15.10.26) oder sind als Plan gekennzeichnet.</a:t>
            </a:r>
            <a:endParaRPr lang="en-US" sz="1100" dirty="0"/>
          </a:p>
        </p:txBody>
      </p:sp>
    </p:spTree>
  </p:cSld>
  <p:clrMapOvr>
    <a:masterClrMapping/>
  </p:clrMapOvr>
</p:sld>
</file>

<file path=ppt/theme/theme1.xml><?xml version="1.0" encoding="utf-8"?>
<a:theme xmlns:a="http://schemas.openxmlformats.org/drawingml/2006/main" name="Plenara">
  <a:themeElements>
    <a:clrScheme name="Plenara">
      <a:dk1>
        <a:srgbClr val="0F172A"/>
      </a:dk1>
      <a:lt1>
        <a:srgbClr val="FFFFFF"/>
      </a:lt1>
      <a:dk2>
        <a:srgbClr val="0B1220"/>
      </a:dk2>
      <a:lt2>
        <a:srgbClr val="F8FAFC"/>
      </a:lt2>
      <a:accent1>
        <a:srgbClr val="0D9488"/>
      </a:accent1>
      <a:accent2>
        <a:srgbClr val="0F766E"/>
      </a:accent2>
      <a:accent3>
        <a:srgbClr val="64748B"/>
      </a:accent3>
      <a:accent4>
        <a:srgbClr val="94A3B8"/>
      </a:accent4>
      <a:accent5>
        <a:srgbClr val="F0FDFA"/>
      </a:accent5>
      <a:accent6>
        <a:srgbClr val="E2E8F0"/>
      </a:accent6>
      <a:hlink>
        <a:srgbClr val="0F766E"/>
      </a:hlink>
      <a:folHlink>
        <a:srgbClr val="0F766E"/>
      </a:folHlink>
    </a:clrScheme>
    <a:fontScheme name="Office">
      <a:majorFont>
        <a:latin typeface="IBM Plex Sans SmB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plenara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Plenara Firmenpräsentation</dc:title>
  <dc:subject>Besser verstehen, was vor Ort beraten wird.</dc:subject>
  <dc:creator>plenara</dc:creator>
  <cp:lastModifiedBy>plenara</cp:lastModifiedBy>
  <cp:revision>1</cp:revision>
  <dcterms:created xsi:type="dcterms:W3CDTF">2026-10-16T16:13:43Z</dcterms:created>
  <dcterms:modified xsi:type="dcterms:W3CDTF">2026-10-16T16:13:43Z</dcterms:modified>
</cp:coreProperties>
</file>