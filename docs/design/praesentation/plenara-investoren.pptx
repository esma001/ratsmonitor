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vestoren" id="{2aadf428-18fd-918b-ca01-8798625ebbd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8181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8181B"/>
                </a:solidFill>
                <a:latin typeface="+mj-lt"/>
              </a:rPr>
              <a:t>Anteil der Gemeinden je Bundesland, aus denen Vorgänge vorliegen (Prozent)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Abdeckung</c:v>
                </c:pt>
              </c:strCache>
            </c:strRef>
          </c:tx>
          <c:spPr>
            <a:solidFill>
              <a:srgbClr val="2684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Berlin, Hamburg, Bremen</c:v>
                  </c:pt>
                  <c:pt idx="1">
                    <c:v>Rheinland-Pfalz</c:v>
                  </c:pt>
                  <c:pt idx="2">
                    <c:v>Mecklenburg-Vorp.</c:v>
                  </c:pt>
                  <c:pt idx="3">
                    <c:v>Schleswig-Holstein</c:v>
                  </c:pt>
                  <c:pt idx="4">
                    <c:v>Sachsen-Anhalt</c:v>
                  </c:pt>
                  <c:pt idx="5">
                    <c:v>Nordrhein-Westfalen</c:v>
                  </c:pt>
                  <c:pt idx="6">
                    <c:v>Niedersachsen</c:v>
                  </c:pt>
                  <c:pt idx="7">
                    <c:v>Saarland</c:v>
                  </c:pt>
                  <c:pt idx="8">
                    <c:v>Hessen</c:v>
                  </c:pt>
                  <c:pt idx="9">
                    <c:v>Baden-Württemberg</c:v>
                  </c:pt>
                  <c:pt idx="10">
                    <c:v>Brandenburg</c:v>
                  </c:pt>
                  <c:pt idx="11">
                    <c:v>Bayern</c:v>
                  </c:pt>
                  <c:pt idx="12">
                    <c:v>Sachsen</c:v>
                  </c:pt>
                  <c:pt idx="13">
                    <c:v>Thüringen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100</c:v>
                </c:pt>
                <c:pt idx="1">
                  <c:v>92</c:v>
                </c:pt>
                <c:pt idx="2">
                  <c:v>86</c:v>
                </c:pt>
                <c:pt idx="3">
                  <c:v>84</c:v>
                </c:pt>
                <c:pt idx="4">
                  <c:v>83</c:v>
                </c:pt>
                <c:pt idx="5">
                  <c:v>82</c:v>
                </c:pt>
                <c:pt idx="6">
                  <c:v>80</c:v>
                </c:pt>
                <c:pt idx="7">
                  <c:v>75</c:v>
                </c:pt>
                <c:pt idx="8">
                  <c:v>72</c:v>
                </c:pt>
                <c:pt idx="9">
                  <c:v>71</c:v>
                </c:pt>
                <c:pt idx="10">
                  <c:v>69</c:v>
                </c:pt>
                <c:pt idx="11">
                  <c:v>62</c:v>
                </c:pt>
                <c:pt idx="12">
                  <c:v>54</c:v>
                </c:pt>
                <c:pt idx="13">
                  <c:v>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majorGridlines>
          <c:spPr>
            <a:ln w="6350" cap="flat">
              <a:solidFill>
                <a:srgbClr val="E4E4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8181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8181B"/>
                </a:solidFill>
                <a:latin typeface="+mj-lt"/>
              </a:rPr>
              <a:t>Wie Vorgänge ausgehen (Prozent von 91.164 entschiedenen)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spPr>
            <a:solidFill>
              <a:srgbClr val="26847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684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C4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4530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beschlossen</c:v>
                  </c:pt>
                  <c:pt idx="1">
                    <c:v>vertagt oder verwiesen</c:v>
                  </c:pt>
                  <c:pt idx="2">
                    <c:v>abgelehnt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4.2</c:v>
                </c:pt>
                <c:pt idx="2">
                  <c:v>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majorGridlines>
          <c:spPr>
            <a:ln w="6350" cap="flat">
              <a:solidFill>
                <a:srgbClr val="E4E4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100" b="0" i="0" u="none" strike="noStrike">
                <a:solidFill>
                  <a:srgbClr val="18181B"/>
                </a:solidFill>
                <a:latin typeface="+mj-lt"/>
              </a:defRPr>
            </a:pPr>
            <a:r>
              <a:rPr sz="1100" b="0" i="0" u="none" strike="noStrike">
                <a:solidFill>
                  <a:srgbClr val="18181B"/>
                </a:solidFill>
                <a:latin typeface="+mj-lt"/>
              </a:rPr>
              <a:t>Gemeinden, in denen der Begriff beraten wurde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90 Tage davor</c:v>
                </c:pt>
              </c:strCache>
            </c:strRef>
          </c:tx>
          <c:spPr>
            <a:solidFill>
              <a:srgbClr val="E4E4E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Hitzeschutz</c:v>
                  </c:pt>
                  <c:pt idx="1">
                    <c:v>Haushaltsplanung</c:v>
                  </c:pt>
                  <c:pt idx="2">
                    <c:v>Weihnachtsmarkt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</c:v>
                </c:pt>
                <c:pt idx="1">
                  <c:v>79</c:v>
                </c:pt>
                <c:pt idx="2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letzte 90 Tage</c:v>
                </c:pt>
              </c:strCache>
            </c:strRef>
          </c:tx>
          <c:spPr>
            <a:solidFill>
              <a:srgbClr val="2684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Hitzeschutz</c:v>
                  </c:pt>
                  <c:pt idx="1">
                    <c:v>Haushaltsplanung</c:v>
                  </c:pt>
                  <c:pt idx="2">
                    <c:v>Weihnachtsmarkt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211</c:v>
                </c:pt>
                <c:pt idx="1">
                  <c:v>172</c:v>
                </c:pt>
                <c:pt idx="2">
                  <c:v>125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4E4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1A1A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2525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Plenara führt die Ratsinformationssysteme der Kommunen zu einem Portal zusammen: suchen, früh erfahren, verstehen.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Kommunale Entscheidungen sind öffentlich, aber auf über 10.000 Systeme verteilt. Wer Aufträge, Flächen oder Standorte sucht, erfährt davon zu spät und beobachtet von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Plenara: eine Suche über ganz Deutschland, Alarme per E-Mail, Analysen über alle Kommunen. Live auf plenara.de, Suche ohne Anmeldung.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Kern-Know-how: eine Datenbank, in der jeder Vorgang gelesen, eingeordnet, zusammengefasst und durchsuchbar ist. Beispiel Herborn: Auszug aus der Vorlage, Thema, Stand, Verlauf durch vier Gremien, Originalquelle.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Kennzahlen von plenara.de/datenabdeckung, Stand 22.10.26: 75 Prozent der Gemeinden, 85 Prozent der Einwohner, 1,51 Millionen Vorgänge durchsuchbar, rund 140.000 neue Berichte je Monat. Abdeckung je Bundesland als Balken.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Lokalredaktionen und Fachmedien: Vorlagen vor der Sitzung, Wochenvorschau, Newsradar mit Zitat und Quelle. Screenshot der Anwenderseite Öffentlichkeit mit den drei berichtenswerten Vorgängen vom Stand 22.10.26.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Projektentwicklung, Makler, Architekturbüros. Zahlen aus dem öffentlichen Auszug Wohnbaugebiete, Stand 21.10.26.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Ingenieurbüros, Umweltgutachter, Bauunternehmen. Zahlen aus dem öffentlichen Auszug Planungsleistungen, Stand 21.10.26.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Stadtwerke, Netzbetreiber, Wasser und Entsorgung, Projektierer. Screenshot der Anwenderseite Versorgung, Stand 22.10.26.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Wirtschaftsverbände, Kammern, Mitgliederverbände, Vereine und Träger, Kämmereien. Hebesatz-Auszug Stand 21.10.26.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kostenlose Suche ist die Reichweitenflanke; Konten mit Alarmen und Kalender sind die Brücke zu den Abos.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plenara.X: dieselbe Datenbank, gezählt über alle Kommunen. Vier Seiten: Signale, Fakten, Atlas, Tools. Regelbasiert, gemessen, jede Zahl mit Quelle.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Signale auf der Karte: jeder Punkt ein Vorhaben der letzten sechs Monate. Wohnbau 2.753 Vorgänge in 1.273 Kommunen, Windenergie 1.734 in 824, Vergaben von Planungsleistungen 2.131 in 950. Stand 21.10.26, öffentliche Auszüge.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Fakten: Werte aus den Unterlagen je Gemeinde, zum Beispiel Hebesätze (808 Gemeinden, Median 465 Prozent). Beschlüsse: von 91.164 entschiedenen Vorgängen wurden 92 Prozent beschlossen, 4,2 vertagt, 3,8 abgelehnt; 76,6 Prozent einstimmig; die Hälfte nach 14 Tagen entschieden. Öffentliche Auszüge, Stand 21.10.26.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Trends: Begriffe, die in den letzten 90 Tagen in deutlich mehr Gemeinden auftauchen, zum Beispiel Hitzeschutz in 211 Gemeinden statt 63. Beratungswege: 35.611 Wege durch die Gremien, der häufigste vom Haupt- und Verwaltungsausschuss in den Rat in acht Tagen.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Erster Markt: Projektierer für Wind, Solar und Speicher. Zahlungsbereitschaft bei vergleichbaren Ausschreibungsdiensten belegt (2.000 bis 6.000 Euro je Jahr). Danach Bau, Glasfaser, Verbände, Agenturen, Presse.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Abo-Erlöse ohne Beratungsaufwand: Self-Service für Einzelnutzer und Teams, Enterprise mit plenara.X für Verbände und Agenturen, später ein Daten-Feed an Nicht-Wettbewerber. Preiskorridor aus der Strategie vom 02.10.26, als Plan gekennzeichnet.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Vier Dinge, die schwer zu kopieren sind: der Zulauf aus über 8.000 Systemen, Struktur statt Volltext, belegbare Zahlen mit offen gezeigter Abdeckung, ein Portal für Suche, Alarme und Analysen.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aus der Kommerzialisierungsstrategie (02.10.26): erst Fundament und Piloten bei Projektierern, dann Self-Service und zahlende Kunden, dann Daten-Feed und weitere Segmente.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 und Gesprächseinladung.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UNKE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TRENNER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73168"/>
            <a:ext cx="493160" cy="182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NK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ENN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0"/>
            <a:ext cx="542476" cy="20116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023360" cy="14919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6060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Besser verstehen,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was vor Ort beraten wird.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Investorenpräsentation  ·  Oktober 2026  ·  www.plenara.de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DAS PROBLEM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Öffentlich beschlossen, praktisch unsichtbar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57734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103120"/>
            <a:ext cx="256032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Über 10.000 Systeme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420112"/>
            <a:ext cx="256032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Jede Kommune veröffentlicht Beschlüsse in ihrem eigenen Ratsinformationssystem. Keines ist über Ortsgrenzen hinweg durchsuchbar.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291840" y="146304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6140" y="1577340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291840" y="2103120"/>
            <a:ext cx="256032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Zu spät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291840" y="2420112"/>
            <a:ext cx="256032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Wer Aufträge, Flächen oder Standorte sucht, liest davon im Amtsblatt oder in der Presse. Dann ist längst entschieden.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126480" y="146304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0" y="1577340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26480" y="2103120"/>
            <a:ext cx="256032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Von Hand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6126480" y="2420112"/>
            <a:ext cx="256032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Teams beobachten 10 bis 20 Kommunen. Der entscheidende Vorgang kommt aus einer, die nicht auf der Liste steht.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DIE LÖSUNG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Ein Portal für alles, was vor Ort beraten wird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577340"/>
            <a:ext cx="228600" cy="228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51560" y="14447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Suchen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051560" y="17556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Ein Begriff, ganz Deutschland, jeder Treffer mit Stand und Originalquelle.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619756"/>
            <a:ext cx="228600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8716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Früh erfahren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051560" y="27980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Alarme per E-Mail, sobald ein Thema auf eine Tagesordnung kommt.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457200" y="354787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662172"/>
            <a:ext cx="228600" cy="2286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51560" y="35295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Verstehen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051560" y="384048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plenara.X zählt Vorgänge über alle Kommunen: Signale, Fakten, Trends.</a:t>
            </a:r>
            <a:endParaRPr lang="en-US" sz="12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25880"/>
            <a:ext cx="2593571" cy="32918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434340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Startseite plenara.de, Stand 22.10.26: 140.198 Berichte in den letzten 30 Tagen.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DER KERN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Gelesen, eingeordnet, zusammengefasst, durchsuchbar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4529797" cy="3090672"/>
          </a:xfrm>
          <a:prstGeom prst="roundRect">
            <a:avLst>
              <a:gd name="adj" fmla="val 1775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456645" cy="30175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279605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508205" y="1417320"/>
            <a:ext cx="3178595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Importiert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508205" y="1652016"/>
            <a:ext cx="31785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Alle 10 Minuten aus den Ratsinformationssystemen von 8.119 Kommunen und Gebieten, nachts vollständig.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279605" y="233324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508205" y="2278380"/>
            <a:ext cx="3178595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Gelesen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508205" y="2513076"/>
            <a:ext cx="3178595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Hauptdokument als PDF, Textebene und OCR. Der Auszug aus der Vorlage zeigt die Originalsätze.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279605" y="30342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508205" y="2979420"/>
            <a:ext cx="3178595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Eingeordnet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508205" y="3214116"/>
            <a:ext cx="31785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Thema, Art des Punkts, Stand des Verfahrens, Werte aus den Unterlagen. Regelbasiert, gemessen, nachvollziehbar.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279605" y="389534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508205" y="3840480"/>
            <a:ext cx="3178595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Durchsuchbar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508205" y="4075176"/>
            <a:ext cx="3178595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Volltext über alle Kommunen, Verlauf durch die Gremien, Link zur Originalquelle. Kurzfassungen tragen ein KI-Label.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43484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Beispiel: Kommunale Wärmeplanung Herborn, vier Gremien in neun Tagen, Stand 22.10.26.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KENNZAHLEN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Drei Viertel der Gemeinden, 85 % der Einwohner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57276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94360" y="1481328"/>
            <a:ext cx="13258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8.113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862836"/>
            <a:ext cx="13258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von 10.751 Gemeinden mit Vorgängen aus ihrem Rat (75 %)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139696" y="1371600"/>
            <a:ext cx="157276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276856" y="1481328"/>
            <a:ext cx="13258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71,3 Mio.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276856" y="1862836"/>
            <a:ext cx="132588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Einwohner in abgedeckten Orten (85 % von 83,4 Mio.)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822192" y="1371600"/>
            <a:ext cx="157276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59352" y="1481328"/>
            <a:ext cx="13258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1,51 Mio.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959352" y="1862836"/>
            <a:ext cx="1325880" cy="163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Vorgänge durchsuchbar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504688" y="1371600"/>
            <a:ext cx="157276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41848" y="1481328"/>
            <a:ext cx="13258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140.000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5641848" y="1862836"/>
            <a:ext cx="132588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neue Berichte je Monat, über 1,2 Mio. im Jahr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187184" y="1371600"/>
            <a:ext cx="1572768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24344" y="1481328"/>
            <a:ext cx="132588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258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324344" y="1862836"/>
            <a:ext cx="132588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von 294 Landkreisen, 16 Bundesländer</a:t>
            </a:r>
            <a:endParaRPr lang="en-US" sz="95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57200" y="2788920"/>
          <a:ext cx="822960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ANWENDUNGSFALL: REDAKTIONEN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Recherche: Beschlüsse finden, bevor die Sitzung beginnt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5010912" cy="2362477"/>
          </a:xfrm>
          <a:prstGeom prst="roundRect">
            <a:avLst>
              <a:gd name="adj" fmla="val 2322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937760" cy="228932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6072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89320" y="1417320"/>
            <a:ext cx="26974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Die Sitzung vorab sehen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89320" y="1652016"/>
            <a:ext cx="2697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Beschlussvorlagen erscheinen vor der Sitzung, nicht erst im Nachbericht.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760720" y="21549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2100072"/>
            <a:ext cx="26974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Montags die Wochenvorschau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334768"/>
            <a:ext cx="2697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Was in den eigenen Kommunen auf der Tagesordnung steht, kommt per E-Mail.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283768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2782824"/>
            <a:ext cx="26974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Berichtenswert, mit Zitat und Quelle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215640"/>
            <a:ext cx="269748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Der Newsradar reiht Vorgänge nach Nachrichtenwert, je Vorgang eine Meldung mit Originalzitat.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Beleg Ahrensburg:  </a:t>
            </a:r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Antrag zur Wärmeplanung über sechs Monate dreimal vertagt, dann beschlossen. Jede Vertagung war am Sitzungstag sichtbar.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ANWENDUNGSFALL: IMMOBILIEN UND BAUEN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Bauland sehen, bevor es Bauland ist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4022120" cy="2450592"/>
          </a:xfrm>
          <a:prstGeom prst="roundRect">
            <a:avLst>
              <a:gd name="adj" fmla="val 2239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48968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71928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00528" y="1417320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Flächen sehen, bevor sie am Markt sind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00528" y="1652016"/>
            <a:ext cx="36862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Ein Aufstellungsbeschluss erscheint, sobald der Rat ihn fasst. Das Exposé kommt meist später.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71928" y="21549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00528" y="2100072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Veränderungssperren vor dem Kauf prüfen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000528" y="2334768"/>
            <a:ext cx="36862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Der Ratsbeschluss ist sichtbar, bevor der Kaufvertrag unterschrieben wird.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71928" y="283768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00528" y="2782824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2.753 neue Wohnbaugebiete in 6 Monaten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00528" y="3017520"/>
            <a:ext cx="36862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In 1.273 Kommunen, mit Stand je Vorgang: Aufstellung, Auslegung, Satzungsbeschluss.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Beleg Beckum:  </a:t>
            </a:r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Gewerbegebiet „Neubeckumer Straße/Grüner Weg“ vom ersten Beschluss bis zur Satzung in acht Monaten, jede Station mit Quelle.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ANWENDUNGSFALL: AUSSCHREIBUNGEN UND PLANUNG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Aufträge sehen, bevor sie vergeben werden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4022120" cy="2450592"/>
          </a:xfrm>
          <a:prstGeom prst="roundRect">
            <a:avLst>
              <a:gd name="adj" fmla="val 2239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48968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71928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00528" y="1417320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Gutachtenbedarf früh erkennen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00528" y="1652016"/>
            <a:ext cx="3686272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Neue Pläne brauchen Umweltberichte und Artenschutzgutachten. Die Beschlüsse nennen das, bevor ausgeschrieben wird.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71928" y="231495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00528" y="2260092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Fristen der Auslegung kennen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000528" y="2494788"/>
            <a:ext cx="36862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Öffentliche Auslegungen und Stellungnahmen haben feste Fristen. Sie erscheinen hier früh.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71928" y="299770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00528" y="2942844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2.131 Vergaben von Planungsleistungen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00528" y="3177540"/>
            <a:ext cx="36862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In 950 Kommunen in 6 Monaten, mit Stand: Ausschreibung, Vergabe, Nachtrag.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Beleg Marienberg:  </a:t>
            </a:r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Radweg an der B 174: im März Bau des 1. Abschnitts vergeben, im Juni die Planung des 2. Abschnitts. Das nächste Los war früh sichtbar.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ANWENDUNGSFALL: ENERGIE UND VERSORGUNG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Wärmeplanung und Netze: vier Monate vor der Vergabe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4022120" cy="2450592"/>
          </a:xfrm>
          <a:prstGeom prst="roundRect">
            <a:avLst>
              <a:gd name="adj" fmla="val 2239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948968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71928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00528" y="1417320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Keine Konzession verpassen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000528" y="1652016"/>
            <a:ext cx="36862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Auslaufende Konzessions- und Entsorgungsverträge im eigenen Gebiet fallen früh auf.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71928" y="21549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00528" y="2100072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3.816 Vorhaben zu Wärme und Netzen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000528" y="2334768"/>
            <a:ext cx="36862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In 1.845 Kommunen in 6 Monaten: Wärmeplanung, Fernwärme, Sanierung, Netze, mit Stand je Vorgang.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71928" y="283768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00528" y="2782824"/>
            <a:ext cx="368627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Entscheidungen der Nachbarn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000528" y="3017520"/>
            <a:ext cx="368627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Was Stadtwerke und Nachbarkommunen beschließen, lässt sich nebeneinander prüfen.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Beleg Gröbenzell:  </a:t>
            </a:r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Kommunale Wärmeplanung vom Grundsatzbeschluss im Mai bis zur Vergabe der Planung im September. Wer Planung oder Netze anbietet, sah den Bedarf ab Mai.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ANWENDUNGSFALL: VERBÄNDE UND KÄMMEREIEN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Mitreden, solange noch beraten wird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5010912" cy="1483941"/>
          </a:xfrm>
          <a:prstGeom prst="roundRect">
            <a:avLst>
              <a:gd name="adj" fmla="val 3697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937760" cy="14107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60720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89320" y="1417320"/>
            <a:ext cx="2697480" cy="41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Hebesätze und Gebühren vor der Entscheidung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89320" y="1850136"/>
            <a:ext cx="269748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Hebesätze und Flächen werden im Ausschuss beraten. Eine Stellungnahme wirkt vor dem Beschluss.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760720" y="251307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89320" y="2458212"/>
            <a:ext cx="26974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Median Grundsteuer B: 465 %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89320" y="2692908"/>
            <a:ext cx="269748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Üblich 347 bis 600 %, aus den Vorlagen von 808 Gemeinden; seit dem vorigen Wert 30 höher, 25 niedriger.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335584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3300984"/>
            <a:ext cx="269748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Mitglieder gezielt informieren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535680"/>
            <a:ext cx="2697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Ein Beschluss betrifft oft viele Mitglieder gleichzeitig. Die Liste zeigt, wer betroffen ist.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Beleg Satow:  </a:t>
            </a:r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Fortführung der Planung des Gewerbegebiets: binnen acht Tagen durch Fachausschuss, Hauptausschuss und Gemeindevertretung. Wer mitreden will, hat wenig Zeit.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ANWENDUNGSFALL: FRAKTIONEN, VEREINE, BÜRGERINNEN UND BÜRGER</a:t>
            </a: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Wissen, was im eigenen Ort beraten wird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20624" y="1335024"/>
            <a:ext cx="4207830" cy="2450592"/>
          </a:xfrm>
          <a:prstGeom prst="roundRect">
            <a:avLst>
              <a:gd name="adj" fmla="val 2239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134678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57638" y="1472184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86238" y="1417320"/>
            <a:ext cx="350056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Ein Suchbegriff, eine E-Mail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186238" y="1652016"/>
            <a:ext cx="35005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Ein gespeicherter Begriff meldet neue Beschlüsse in der eigenen Gemeinde: sofort, täglich oder wöchentlich.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957638" y="2154936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86238" y="2100072"/>
            <a:ext cx="350056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Keine Sitzung verpassen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186238" y="2334768"/>
            <a:ext cx="35005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Der Sitzungskalender zu den eigenen Themen lässt sich abonnieren.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957638" y="2837688"/>
            <a:ext cx="91440" cy="914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86238" y="2782824"/>
            <a:ext cx="3500562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Förderung und Zuschüsse im Blick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186238" y="3017520"/>
            <a:ext cx="350056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Sehen, ob der eigene Zuschuss im Haushaltsentwurf steht oder gekürzt wird, bevor der Rat entscheidet.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" y="3886200"/>
            <a:ext cx="8229600" cy="640080"/>
          </a:xfrm>
          <a:prstGeom prst="roundRect">
            <a:avLst>
              <a:gd name="adj" fmla="val 1428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Reichweite:  </a:t>
            </a:r>
            <a:pPr algn="l"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Suche und Karte sind ohne Anmeldung offen. Das bringt Sichtbarkeit, Zitate in der Presse und Anfragen von Verbänden und Unternehmen.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Aus 1,5 Millionen Vorgängen werden Antworten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61772" y="1417320"/>
            <a:ext cx="1965960" cy="22860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4652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1700784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4652" y="21305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Signale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44652" y="242316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Wo gerade etwas entsteht: Wohnbau, Gewerbe, Wind, Solar, Wärme, Schulen, Straßen, Mobilität. Je Vorgang Ort, Stand und Quelle.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546604" y="1417320"/>
            <a:ext cx="1965960" cy="22860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729484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068" y="1700784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729484" y="21305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Fakten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2729484" y="242316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Hebesätze, Gebühren, Jahresergebnisse und Grundstückspreise je Gemeinde auf der Karte, mit Kreis- und Landesmedian.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631436" y="1417320"/>
            <a:ext cx="1965960" cy="22860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14316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700784"/>
            <a:ext cx="201168" cy="20116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814316" y="21305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Atlas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814316" y="242316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Worüber die Räte beraten, nach zehn Themen: Unterthemen, Verlauf, Orte und der Vergleich mit ähnlichen Gemeinden.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716268" y="1417320"/>
            <a:ext cx="1965960" cy="2286000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99148" y="160020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9732" y="1700784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99148" y="21305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plenara.X Tools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6899148" y="2423160"/>
            <a:ext cx="1600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Ausbreitung, Themennetz, Trends, Ortsvergleich, Beschlüsse, Beratungswege, Fraktionsprofil, Newsradar.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57200" y="3886200"/>
            <a:ext cx="8229600" cy="594360"/>
          </a:xfrm>
          <a:prstGeom prst="roundRect">
            <a:avLst>
              <a:gd name="adj" fmla="val 15385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Regelbasiert und gemessen: </a:t>
            </a:r>
            <a:pPr algn="l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kein Modell im Ablauf, Freigabe erst ab 90 % geprüfter Qualität, jede Zahl führt zu den Vorgängen und Originalquellen. Teil des Tarifs Enterprise.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ANALYSE: SIGNALE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Wo Deutschland baut, plant und vergibt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20624" y="1335024"/>
            <a:ext cx="2450592" cy="3093899"/>
          </a:xfrm>
          <a:prstGeom prst="roundRect">
            <a:avLst>
              <a:gd name="adj" fmla="val 2239"/>
            </a:avLst>
          </a:prstGeom>
          <a:solidFill>
            <a:schemeClr val="bg1"/>
          </a:solidFill>
          <a:ln w="9525">
            <a:solidFill>
              <a:srgbClr val="E4E4E7"/>
            </a:solidFill>
            <a:prstDash val="solid"/>
          </a:ln>
          <a:effectLst>
            <a:outerShdw sx="100000" sy="100000" kx="0" ky="0" algn="bl" rotWithShape="0" blurRad="127000" dist="38100" dir="5400000">
              <a:srgbClr val="18181B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2377440" cy="30207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291840" y="1371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2.753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846320" y="13898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neue Wohnbaugebiete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166420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in 1.273 Kommunen; Stand je Vorgang: Aufstellung, Auslegung, Satzungsbeschluss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23591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1.734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484632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Vorhaben zur Windenergie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846320" y="26517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in 824 Kommunen; Planung, Genehmigung, Beteiligung und Betrieb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3291840" y="33467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2.131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4846320" y="336499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Vergaben von Planungsleistungen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846320" y="36393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in 950 Kommunen; Ausschreibung, Vergabe, Nachtrag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3291840" y="434340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Jeweils die letzten sechs Monate, Stand 21.10.26. Je Vorgang Ort, Art als Filter und Stand des Verfahrens; Freigabe nur für Kategorien mit gemessener Qualität ab 90 %.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ANALYSE: FAKTEN UND BESCHLÜSSE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Was kostet es wo, und wie Räte entscheiden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393192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Hebesätze Grundsteuer B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465 %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06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Median aus den Vorlagen von 808 Gemeinden. Üblich 347 bis 600 %. Seit dem vorigen Wert: 30 Gemeinden höher, 25 niedriger.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4747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Auf der Karte je Gemeinde, mit Kreis- und Landesmedian und den Vorgängen hinter jedem Wert. Weitere Werte: Gebühren, Wärmeplanung, Zuschüsse, Grundstückspreise, Jahresergebnis.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663440" y="1325880"/>
          <a:ext cx="40233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663440" y="3337560"/>
            <a:ext cx="1280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76,6 %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653028"/>
            <a:ext cx="128016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einstimmig entschieden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3337560"/>
            <a:ext cx="1280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14 Tage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3653028"/>
            <a:ext cx="128016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bis die Hälfte entschieden war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3337560"/>
            <a:ext cx="1280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91.164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406640" y="3653028"/>
            <a:ext cx="1280160" cy="307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entschiedene Vorgänge im Bestand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663440" y="431596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Öffentliche Auszüge von plenara.de, Stand 21.10.26; die vollständigen Seiten gehören zum Tarif Enterprise.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ANALYSE: TRENDS UND BERATUNGSWEGE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Was zunimmt, und wie lange der Weg in den Rat dauert</a:t>
            </a:r>
            <a:endParaRPr lang="en-US" sz="2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325880"/>
          <a:ext cx="40233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06908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Trends über alle Vorgänge, Fenster 90 Tage, Stand 21.10.26.</a:t>
            </a:r>
            <a:endParaRPr lang="en-US" sz="950" dirty="0"/>
          </a:p>
        </p:txBody>
      </p:sp>
      <p:sp>
        <p:nvSpPr>
          <p:cNvPr id="7" name="Text 3"/>
          <p:cNvSpPr txBox="1"/>
          <p:nvPr/>
        </p:nvSpPr>
        <p:spPr>
          <a:xfrm>
            <a:off x="4846320" y="13716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Beratungswege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4846320" y="1645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35.611 Wege durch die Gremien, die häufigsten: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4846320" y="2011680"/>
            <a:ext cx="384048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846320" y="208483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Haupt- und Verwaltungsausschuss › Rat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7498080" y="208483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9.621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183880" y="20848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8 Tage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46320" y="2542032"/>
            <a:ext cx="384048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846320" y="261518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Bau-, Planungs- und Stadtentwicklungsausschuss › Rat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7498080" y="2615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6.451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183880" y="2615184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14 Tage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846320" y="3072384"/>
            <a:ext cx="384048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846320" y="31455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Finanz- und Rechnungsprüfungsausschuss › Rat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314553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5.136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8183880" y="3145536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9 Tage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846320" y="3602736"/>
            <a:ext cx="384048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46320" y="36758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Bildungs-, Jugend-, Kultur- und Sportausschuss › Rat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36758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2.241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8183880" y="3675888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16 Tage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846320" y="4133088"/>
            <a:ext cx="384048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846320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chemeClr val="accent3"/>
                </a:solidFill>
              </a:rPr>
              <a:t>Wege und mittlere Dauer vom Ausschuss bis zum Rat oder Kreistag, Stand 21.10.26.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MARKT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Wer früh wissen muss, was Räte planen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57276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668780"/>
            <a:ext cx="192024" cy="1920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584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Projektierer Wind, Solar, Speicher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11480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Einstiegssegment: jede Fläche beginnt mit einem Ratsbeschluss. Zahlungsbereitschaft bei vergleichbaren Diensten belegt: 2.000 bis 6.000 € je Jahr.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57200" y="2167128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2322576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" y="2418588"/>
            <a:ext cx="192024" cy="1920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5840" y="23042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Bau, Planung, Glasfaser, Wohnungswirtschaft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4114800" y="23042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Aufträge, bevor sie ausgeschrieben werden; Bebauungspläne und Markterkundungen, bevor sie öffentlich ausliegen.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2916936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7200" y="3072384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" y="3168396"/>
            <a:ext cx="192024" cy="1920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05840" y="305409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Verbände, Kämmereien, Agenturen, Presse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114800" y="30540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Viele Orte, ein Werkzeug: Mandanten-Suchen, Fakten je Gemeinde, Meldungen mit Zitat und Quelle.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666744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7200" y="3822192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" y="3918204"/>
            <a:ext cx="192024" cy="19202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005840" y="380390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Fraktionen, Bürgerinnen und Bürger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4114800" y="380390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Kostenlose Suche als Reichweitenflanke: Sichtbarkeit, Zitate in der Presse, Anfragen.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822960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GESCHÄFTSMODELL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Abo-Erlöse, Software statt Beratung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17320"/>
            <a:ext cx="2651760" cy="2331720"/>
          </a:xfrm>
          <a:prstGeom prst="roundRect">
            <a:avLst>
              <a:gd name="adj" fmla="val 392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4592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746504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Self-Service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149 bis 990 € je Monat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Einzelnutzer und Teams: Suche, Alarme, Export. Monatlich kündbar, Start ohne Gespräch.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46120" y="1417320"/>
            <a:ext cx="2651760" cy="2331720"/>
          </a:xfrm>
          <a:prstGeom prst="roundRect">
            <a:avLst>
              <a:gd name="adj" fmla="val 392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474720" y="164592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5304" y="1746504"/>
            <a:ext cx="201168" cy="20116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74720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Enterprise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347472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ab 6.000 € je Jahr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47472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Verbände, Agenturen, Konzerne: Mandanten-Suchen, Reporting, plenara.X mit allen Analysen.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035040" y="1417320"/>
            <a:ext cx="2651760" cy="2331720"/>
          </a:xfrm>
          <a:prstGeom prst="roundRect">
            <a:avLst>
              <a:gd name="adj" fmla="val 392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63640" y="1645920"/>
            <a:ext cx="402336" cy="40233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1746504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63640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Daten-Feed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63640" y="24688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ab Phase 3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263640" y="2880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Strukturierte Vorgänge als Feed, nur an Nicht-Wettbewerber. Zweitverwertung derselben Datenbank.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Preise: Plan aus der Kommerzialisierungsstrategie (Stand 02.10.26), in der Testphase auf Anfrage. Die kostenlose Suche bleibt als Reichweitenflanke; Förderung nur für den offenen Datensockel, nie für den Kern.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WARUM PLENARA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Vier Dinge, die schwer zu kopieren sind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568196"/>
            <a:ext cx="210312" cy="2103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05840" y="1444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Der Zulauf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005840" y="1764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8.119 Kommunen und Gebiete angebunden, alle 10 Minuten neue Berichte, nachts vollständig. Jahre an Anbindungsarbeit, die niemand überspringt.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709160" y="1463040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568196"/>
            <a:ext cx="210312" cy="2103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257800" y="144475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Struktur statt Volltext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257800" y="1764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Jeder Bericht wird zum Vorgang: Thema, Stand, Verlauf durch die Gremien, Werte aus den Unterlagen. Regelbasiert und gemessen.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457200" y="2971800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076956"/>
            <a:ext cx="210312" cy="21031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5840" y="29535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Belegbar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005840" y="327355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Jede Zahl führt zur Originalquelle. Abdeckung und Grenzen werden offen gezeigt, vor dem Kauf.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4709160" y="2971800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4316" y="3076956"/>
            <a:ext cx="210312" cy="210312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57800" y="295351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Ein Portal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57800" y="327355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Suche, Alarme und Analysen aus einer Datenbank. Jede neue Auswertung nutzt denselben Weg, ohne neues Datenmodell.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3840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2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NÄCHSTE SCHRITTE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45720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Vom Datenbestand zum Umsatz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65176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737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Monat 1 bis 3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Fundament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4231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Konten, Alarme und Preise live. Zielregionen ohne Lücken. 100 persönliche Kontakte, 10 Demos, erste Pilotrechnungen.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246120" y="1463040"/>
            <a:ext cx="265176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74720" y="1691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747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069080" y="1737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Monat 4 bis 9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Kunden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24231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Piloten werden Kunden, Self-Service-Abschluss ohne Gespräch. Ziel: 8 bis 10 zahlende Kunden.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35040" y="1463040"/>
            <a:ext cx="265176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63640" y="1691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63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1737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Monat 10 bis 18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1920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Skalierung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263640" y="242316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chemeClr val="accent3"/>
                </a:solidFill>
              </a:rPr>
              <a:t>Daten-Feed an Nicht-Wettbewerber, weitere Segmente und Regionen, Enterprise mit plenara.X.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chemeClr val="accent3"/>
                </a:solidFill>
              </a:rPr>
              <a:t>Plan, Stand 02.10.26. Messgrößen je Phase: Demos, Pilotrechnungen, zahlende Kunden, monatlich wiederkehrender Umsatz.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A1A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2926080" cy="1085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31520" y="22860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Besser verstehen,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was vor Ort beraten wird.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IBM Plex Sans SmBld" pitchFamily="34" charset="0"/>
                <a:ea typeface="IBM Plex Sans SmBld" pitchFamily="34" charset="-122"/>
                <a:cs typeface="IBM Plex Sans SmBld" pitchFamily="34" charset="-120"/>
              </a:rPr>
              <a:t>Max Espelkott  ·  www.plenara.de</a:t>
            </a:r>
            <a:endParaRPr lang="en-US" sz="1600" dirty="0"/>
          </a:p>
        </p:txBody>
      </p:sp>
      <p:sp>
        <p:nvSpPr>
          <p:cNvPr id="6" name="Text 2"/>
          <p:cNvSpPr txBox="1"/>
          <p:nvPr/>
        </p:nvSpPr>
        <p:spPr>
          <a:xfrm>
            <a:off x="731520" y="40690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Suche und Karte sind ohne Anmeldung offen: plenara.de. Alle Zahlen dieser Präsentation stammen von der Seite selbst (Stand 21. und 22.10.26) oder sind als Plan gekennzeichnet.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enara">
  <a:themeElements>
    <a:clrScheme name="Plenara">
      <a:dk1>
        <a:srgbClr val="18181B"/>
      </a:dk1>
      <a:lt1>
        <a:srgbClr val="FFFFFF"/>
      </a:lt1>
      <a:dk2>
        <a:srgbClr val="191E1D"/>
      </a:dk2>
      <a:lt2>
        <a:srgbClr val="F4F4F5"/>
      </a:lt2>
      <a:accent1>
        <a:srgbClr val="268478"/>
      </a:accent1>
      <a:accent2>
        <a:srgbClr val="1F7065"/>
      </a:accent2>
      <a:accent3>
        <a:srgbClr val="52525B"/>
      </a:accent3>
      <a:accent4>
        <a:srgbClr val="A1A1AA"/>
      </a:accent4>
      <a:accent5>
        <a:srgbClr val="E6F3F1"/>
      </a:accent5>
      <a:accent6>
        <a:srgbClr val="E4E4E7"/>
      </a:accent6>
      <a:hlink>
        <a:srgbClr val="29467A"/>
      </a:hlink>
      <a:folHlink>
        <a:srgbClr val="29467A"/>
      </a:folHlink>
    </a:clrScheme>
    <a:fontScheme name="Office">
      <a:majorFont>
        <a:latin typeface="IBM Plex Sans SmB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BM Plex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plenara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Plenara Firmenpräsentation</dc:title>
  <dc:subject>Besser verstehen, was vor Ort beraten wird.</dc:subject>
  <dc:creator>plenara</dc:creator>
  <cp:lastModifiedBy>plenara</cp:lastModifiedBy>
  <cp:revision>1</cp:revision>
  <dcterms:created xsi:type="dcterms:W3CDTF">2026-10-22T07:58:48Z</dcterms:created>
  <dcterms:modified xsi:type="dcterms:W3CDTF">2026-10-22T07:58:48Z</dcterms:modified>
</cp:coreProperties>
</file>